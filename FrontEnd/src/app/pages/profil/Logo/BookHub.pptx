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Inter Bold" charset="1" panose="02000503000000020004"/>
      <p:regular r:id="rId28"/>
    </p:embeddedFont>
    <p:embeddedFont>
      <p:font typeface="Inter" charset="1" panose="02000503000000020004"/>
      <p:regular r:id="rId29"/>
    </p:embeddedFont>
    <p:embeddedFont>
      <p:font typeface="Inter Italics" charset="1" panose="02000503000000020004"/>
      <p:regular r:id="rId30"/>
    </p:embeddedFont>
    <p:embeddedFont>
      <p:font typeface="DM Sans" charset="1" panose="00000000000000000000"/>
      <p:regular r:id="rId31"/>
    </p:embeddedFont>
    <p:embeddedFont>
      <p:font typeface="Carelia" charset="1" panose="0000050000000000000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 Id="rId9" Target="../media/image1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27.png" Type="http://schemas.openxmlformats.org/officeDocument/2006/relationships/image"/><Relationship Id="rId8" Target="../media/image28.svg" Type="http://schemas.openxmlformats.org/officeDocument/2006/relationships/image"/><Relationship Id="rId9"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33.jpeg" Type="http://schemas.openxmlformats.org/officeDocument/2006/relationships/image"/><Relationship Id="rId8"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png" Type="http://schemas.openxmlformats.org/officeDocument/2006/relationships/image"/><Relationship Id="rId11" Target="../media/image41.png" Type="http://schemas.openxmlformats.org/officeDocument/2006/relationships/image"/><Relationship Id="rId12" Target="../media/image42.png" Type="http://schemas.openxmlformats.org/officeDocument/2006/relationships/image"/><Relationship Id="rId13" Target="../media/image43.png" Type="http://schemas.openxmlformats.org/officeDocument/2006/relationships/image"/><Relationship Id="rId2" Target="../media/image1.jpeg" Type="http://schemas.openxmlformats.org/officeDocument/2006/relationships/image"/><Relationship Id="rId3" Target="../media/image34.png" Type="http://schemas.openxmlformats.org/officeDocument/2006/relationships/image"/><Relationship Id="rId4" Target="../media/image35.svg" Type="http://schemas.openxmlformats.org/officeDocument/2006/relationships/image"/><Relationship Id="rId5" Target="../media/image36.png" Type="http://schemas.openxmlformats.org/officeDocument/2006/relationships/image"/><Relationship Id="rId6" Target="../media/image37.svg" Type="http://schemas.openxmlformats.org/officeDocument/2006/relationships/image"/><Relationship Id="rId7" Target="../media/image12.png" Type="http://schemas.openxmlformats.org/officeDocument/2006/relationships/image"/><Relationship Id="rId8" Target="../media/image38.png" Type="http://schemas.openxmlformats.org/officeDocument/2006/relationships/image"/><Relationship Id="rId9" Target="../media/image3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6.png" Type="http://schemas.openxmlformats.org/officeDocument/2006/relationships/image"/><Relationship Id="rId11" Target="../media/image47.png" Type="http://schemas.openxmlformats.org/officeDocument/2006/relationships/image"/><Relationship Id="rId2" Target="../media/image1.jpe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12.png" Type="http://schemas.openxmlformats.org/officeDocument/2006/relationships/image"/><Relationship Id="rId8" Target="../media/image44.png" Type="http://schemas.openxmlformats.org/officeDocument/2006/relationships/image"/><Relationship Id="rId9" Target="../media/image4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8.png" Type="http://schemas.openxmlformats.org/officeDocument/2006/relationships/image"/><Relationship Id="rId4" Target="../media/image49.svg" Type="http://schemas.openxmlformats.org/officeDocument/2006/relationships/image"/><Relationship Id="rId5" Target="../media/image50.png" Type="http://schemas.openxmlformats.org/officeDocument/2006/relationships/image"/><Relationship Id="rId6" Target="../media/image51.png" Type="http://schemas.openxmlformats.org/officeDocument/2006/relationships/image"/><Relationship Id="rId7" Target="../media/image52.png" Type="http://schemas.openxmlformats.org/officeDocument/2006/relationships/image"/><Relationship Id="rId8" Target="../media/image53.png" Type="http://schemas.openxmlformats.org/officeDocument/2006/relationships/image"/><Relationship Id="rId9"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4.png" Type="http://schemas.openxmlformats.org/officeDocument/2006/relationships/image"/><Relationship Id="rId4" Target="../media/image55.svg" Type="http://schemas.openxmlformats.org/officeDocument/2006/relationships/image"/><Relationship Id="rId5" Target="../media/image56.png" Type="http://schemas.openxmlformats.org/officeDocument/2006/relationships/image"/><Relationship Id="rId6" Target="../media/image57.svg" Type="http://schemas.openxmlformats.org/officeDocument/2006/relationships/image"/><Relationship Id="rId7" Target="../media/image12.png" Type="http://schemas.openxmlformats.org/officeDocument/2006/relationships/image"/><Relationship Id="rId8" Target="../media/image5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1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9.png" Type="http://schemas.openxmlformats.org/officeDocument/2006/relationships/image"/><Relationship Id="rId4" Target="../media/image60.svg" Type="http://schemas.openxmlformats.org/officeDocument/2006/relationships/image"/><Relationship Id="rId5" Target="../media/image61.jpeg" Type="http://schemas.openxmlformats.org/officeDocument/2006/relationships/image"/><Relationship Id="rId6" Target="../media/image1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9.png" Type="http://schemas.openxmlformats.org/officeDocument/2006/relationships/image"/><Relationship Id="rId4" Target="../media/image60.svg" Type="http://schemas.openxmlformats.org/officeDocument/2006/relationships/image"/><Relationship Id="rId5" Target="../media/image61.jpeg" Type="http://schemas.openxmlformats.org/officeDocument/2006/relationships/image"/><Relationship Id="rId6" Target="../media/image1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2.pn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63.png" Type="http://schemas.openxmlformats.org/officeDocument/2006/relationships/image"/><Relationship Id="rId7" Target="../media/image64.svg" Type="http://schemas.openxmlformats.org/officeDocument/2006/relationships/image"/><Relationship Id="rId8" Target="../media/image1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5.png" Type="http://schemas.openxmlformats.org/officeDocument/2006/relationships/image"/><Relationship Id="rId4" Target="../media/image66.png" Type="http://schemas.openxmlformats.org/officeDocument/2006/relationships/image"/><Relationship Id="rId5" Target="../media/image67.svg" Type="http://schemas.openxmlformats.org/officeDocument/2006/relationships/image"/><Relationship Id="rId6" Target="../media/image68.png" Type="http://schemas.openxmlformats.org/officeDocument/2006/relationships/image"/><Relationship Id="rId7" Target="../media/image69.svg" Type="http://schemas.openxmlformats.org/officeDocument/2006/relationships/image"/><Relationship Id="rId8" Target="../media/image1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1.png" Type="http://schemas.openxmlformats.org/officeDocument/2006/relationships/image"/><Relationship Id="rId3" Target="../media/image72.png" Type="http://schemas.openxmlformats.org/officeDocument/2006/relationships/image"/><Relationship Id="rId4" Target="../media/image7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5.svg" Type="http://schemas.openxmlformats.org/officeDocument/2006/relationships/image"/><Relationship Id="rId11" Target="../media/image80.png" Type="http://schemas.openxmlformats.org/officeDocument/2006/relationships/image"/><Relationship Id="rId12" Target="../media/image81.svg" Type="http://schemas.openxmlformats.org/officeDocument/2006/relationships/image"/><Relationship Id="rId2" Target="../media/image1.jpeg" Type="http://schemas.openxmlformats.org/officeDocument/2006/relationships/image"/><Relationship Id="rId3" Target="../media/image74.png" Type="http://schemas.openxmlformats.org/officeDocument/2006/relationships/image"/><Relationship Id="rId4" Target="../media/image75.svg" Type="http://schemas.openxmlformats.org/officeDocument/2006/relationships/image"/><Relationship Id="rId5" Target="../media/image76.png" Type="http://schemas.openxmlformats.org/officeDocument/2006/relationships/image"/><Relationship Id="rId6" Target="../media/image77.svg" Type="http://schemas.openxmlformats.org/officeDocument/2006/relationships/image"/><Relationship Id="rId7" Target="../media/image78.png" Type="http://schemas.openxmlformats.org/officeDocument/2006/relationships/image"/><Relationship Id="rId8" Target="../media/image79.svg" Type="http://schemas.openxmlformats.org/officeDocument/2006/relationships/image"/><Relationship Id="rId9" Target="../media/image54.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2.png" Type="http://schemas.openxmlformats.org/officeDocument/2006/relationships/image"/><Relationship Id="rId4" Target="../media/image83.svg" Type="http://schemas.openxmlformats.org/officeDocument/2006/relationships/image"/><Relationship Id="rId5" Target="../media/image84.png" Type="http://schemas.openxmlformats.org/officeDocument/2006/relationships/image"/><Relationship Id="rId6" Target="../media/image85.svg" Type="http://schemas.openxmlformats.org/officeDocument/2006/relationships/image"/><Relationship Id="rId7" Target="../media/image1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sp>
        <p:nvSpPr>
          <p:cNvPr name="Freeform 3" id="3"/>
          <p:cNvSpPr/>
          <p:nvPr/>
        </p:nvSpPr>
        <p:spPr>
          <a:xfrm flipH="false" flipV="false" rot="0">
            <a:off x="-2663033" y="6195861"/>
            <a:ext cx="6914093" cy="5028432"/>
          </a:xfrm>
          <a:custGeom>
            <a:avLst/>
            <a:gdLst/>
            <a:ahLst/>
            <a:cxnLst/>
            <a:rect r="r" b="b" t="t" l="l"/>
            <a:pathLst>
              <a:path h="5028432" w="6914093">
                <a:moveTo>
                  <a:pt x="0" y="0"/>
                </a:moveTo>
                <a:lnTo>
                  <a:pt x="6914093" y="0"/>
                </a:lnTo>
                <a:lnTo>
                  <a:pt x="6914093" y="5028431"/>
                </a:lnTo>
                <a:lnTo>
                  <a:pt x="0" y="50284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029971" y="4820778"/>
            <a:ext cx="10228058" cy="1710875"/>
          </a:xfrm>
          <a:custGeom>
            <a:avLst/>
            <a:gdLst/>
            <a:ahLst/>
            <a:cxnLst/>
            <a:rect r="r" b="b" t="t" l="l"/>
            <a:pathLst>
              <a:path h="1710875" w="10228058">
                <a:moveTo>
                  <a:pt x="0" y="0"/>
                </a:moveTo>
                <a:lnTo>
                  <a:pt x="10228058" y="0"/>
                </a:lnTo>
                <a:lnTo>
                  <a:pt x="10228058" y="1710876"/>
                </a:lnTo>
                <a:lnTo>
                  <a:pt x="0" y="17108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2456379" y="5404911"/>
            <a:ext cx="8246933" cy="6247677"/>
          </a:xfrm>
          <a:custGeom>
            <a:avLst/>
            <a:gdLst/>
            <a:ahLst/>
            <a:cxnLst/>
            <a:rect r="r" b="b" t="t" l="l"/>
            <a:pathLst>
              <a:path h="6247677" w="8246933">
                <a:moveTo>
                  <a:pt x="0" y="0"/>
                </a:moveTo>
                <a:lnTo>
                  <a:pt x="8246933" y="0"/>
                </a:lnTo>
                <a:lnTo>
                  <a:pt x="8246933" y="6247677"/>
                </a:lnTo>
                <a:lnTo>
                  <a:pt x="0" y="624767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5308980" y="-1652824"/>
            <a:ext cx="8905028" cy="5575060"/>
          </a:xfrm>
          <a:custGeom>
            <a:avLst/>
            <a:gdLst/>
            <a:ahLst/>
            <a:cxnLst/>
            <a:rect r="r" b="b" t="t" l="l"/>
            <a:pathLst>
              <a:path h="5575060" w="8905028">
                <a:moveTo>
                  <a:pt x="0" y="0"/>
                </a:moveTo>
                <a:lnTo>
                  <a:pt x="8905029" y="0"/>
                </a:lnTo>
                <a:lnTo>
                  <a:pt x="8905029" y="5575060"/>
                </a:lnTo>
                <a:lnTo>
                  <a:pt x="0" y="557506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3495846">
            <a:off x="-3929800" y="-2685694"/>
            <a:ext cx="5243739" cy="7338566"/>
          </a:xfrm>
          <a:custGeom>
            <a:avLst/>
            <a:gdLst/>
            <a:ahLst/>
            <a:cxnLst/>
            <a:rect r="r" b="b" t="t" l="l"/>
            <a:pathLst>
              <a:path h="7338566" w="5243739">
                <a:moveTo>
                  <a:pt x="0" y="0"/>
                </a:moveTo>
                <a:lnTo>
                  <a:pt x="5243739" y="0"/>
                </a:lnTo>
                <a:lnTo>
                  <a:pt x="5243739" y="7338565"/>
                </a:lnTo>
                <a:lnTo>
                  <a:pt x="0" y="733856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6873847" y="603193"/>
            <a:ext cx="4540307" cy="4540307"/>
          </a:xfrm>
          <a:custGeom>
            <a:avLst/>
            <a:gdLst/>
            <a:ahLst/>
            <a:cxnLst/>
            <a:rect r="r" b="b" t="t" l="l"/>
            <a:pathLst>
              <a:path h="4540307" w="4540307">
                <a:moveTo>
                  <a:pt x="0" y="0"/>
                </a:moveTo>
                <a:lnTo>
                  <a:pt x="4540306" y="0"/>
                </a:lnTo>
                <a:lnTo>
                  <a:pt x="4540306" y="4540307"/>
                </a:lnTo>
                <a:lnTo>
                  <a:pt x="0" y="4540307"/>
                </a:lnTo>
                <a:lnTo>
                  <a:pt x="0" y="0"/>
                </a:lnTo>
                <a:close/>
              </a:path>
            </a:pathLst>
          </a:custGeom>
          <a:blipFill>
            <a:blip r:embed="rId13"/>
            <a:stretch>
              <a:fillRect l="0" t="0" r="0" b="0"/>
            </a:stretch>
          </a:blipFill>
        </p:spPr>
      </p:sp>
      <p:sp>
        <p:nvSpPr>
          <p:cNvPr name="TextBox 9" id="9"/>
          <p:cNvSpPr txBox="true"/>
          <p:nvPr/>
        </p:nvSpPr>
        <p:spPr>
          <a:xfrm rot="0">
            <a:off x="3718992" y="3730469"/>
            <a:ext cx="10850017" cy="3110743"/>
          </a:xfrm>
          <a:prstGeom prst="rect">
            <a:avLst/>
          </a:prstGeom>
        </p:spPr>
        <p:txBody>
          <a:bodyPr anchor="t" rtlCol="false" tIns="0" lIns="0" bIns="0" rIns="0">
            <a:spAutoFit/>
          </a:bodyPr>
          <a:lstStyle/>
          <a:p>
            <a:pPr algn="ctr">
              <a:lnSpc>
                <a:spcPts val="25416"/>
              </a:lnSpc>
            </a:pPr>
            <a:r>
              <a:rPr lang="en-US" b="true" sz="18154">
                <a:solidFill>
                  <a:srgbClr val="154428"/>
                </a:solidFill>
                <a:latin typeface="Inter Bold"/>
                <a:ea typeface="Inter Bold"/>
                <a:cs typeface="Inter Bold"/>
                <a:sym typeface="Inter Bold"/>
              </a:rPr>
              <a:t>BookHub</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1863261" y="-589740"/>
            <a:ext cx="11074056" cy="12247451"/>
            <a:chOff x="0" y="0"/>
            <a:chExt cx="2916624" cy="3225666"/>
          </a:xfrm>
        </p:grpSpPr>
        <p:sp>
          <p:nvSpPr>
            <p:cNvPr name="Freeform 4" id="4"/>
            <p:cNvSpPr/>
            <p:nvPr/>
          </p:nvSpPr>
          <p:spPr>
            <a:xfrm flipH="false" flipV="false" rot="0">
              <a:off x="0" y="0"/>
              <a:ext cx="2916624" cy="3225666"/>
            </a:xfrm>
            <a:custGeom>
              <a:avLst/>
              <a:gdLst/>
              <a:ahLst/>
              <a:cxnLst/>
              <a:rect r="r" b="b" t="t" l="l"/>
              <a:pathLst>
                <a:path h="3225666" w="2916624">
                  <a:moveTo>
                    <a:pt x="0" y="0"/>
                  </a:moveTo>
                  <a:lnTo>
                    <a:pt x="2916624" y="0"/>
                  </a:lnTo>
                  <a:lnTo>
                    <a:pt x="2916624" y="3225666"/>
                  </a:lnTo>
                  <a:lnTo>
                    <a:pt x="0" y="3225666"/>
                  </a:lnTo>
                  <a:close/>
                </a:path>
              </a:pathLst>
            </a:custGeom>
            <a:solidFill>
              <a:srgbClr val="FFFFFF"/>
            </a:solidFill>
            <a:ln w="38100" cap="sq">
              <a:solidFill>
                <a:srgbClr val="154428"/>
              </a:solidFill>
              <a:prstDash val="solid"/>
              <a:miter/>
            </a:ln>
          </p:spPr>
        </p:sp>
        <p:sp>
          <p:nvSpPr>
            <p:cNvPr name="TextBox 5" id="5"/>
            <p:cNvSpPr txBox="true"/>
            <p:nvPr/>
          </p:nvSpPr>
          <p:spPr>
            <a:xfrm>
              <a:off x="0" y="-47625"/>
              <a:ext cx="2916624" cy="3273291"/>
            </a:xfrm>
            <a:prstGeom prst="rect">
              <a:avLst/>
            </a:prstGeom>
          </p:spPr>
          <p:txBody>
            <a:bodyPr anchor="ctr" rtlCol="false" tIns="50800" lIns="50800" bIns="50800" rIns="50800"/>
            <a:lstStyle/>
            <a:p>
              <a:pPr algn="ctr">
                <a:lnSpc>
                  <a:spcPts val="3210"/>
                </a:lnSpc>
              </a:pPr>
            </a:p>
          </p:txBody>
        </p:sp>
      </p:grpSp>
      <p:sp>
        <p:nvSpPr>
          <p:cNvPr name="Freeform 6" id="6"/>
          <p:cNvSpPr/>
          <p:nvPr/>
        </p:nvSpPr>
        <p:spPr>
          <a:xfrm flipH="true" flipV="false" rot="0">
            <a:off x="11552503" y="5533986"/>
            <a:ext cx="4462784" cy="3245661"/>
          </a:xfrm>
          <a:custGeom>
            <a:avLst/>
            <a:gdLst/>
            <a:ahLst/>
            <a:cxnLst/>
            <a:rect r="r" b="b" t="t" l="l"/>
            <a:pathLst>
              <a:path h="3245661" w="4462784">
                <a:moveTo>
                  <a:pt x="4462784" y="0"/>
                </a:moveTo>
                <a:lnTo>
                  <a:pt x="0" y="0"/>
                </a:lnTo>
                <a:lnTo>
                  <a:pt x="0" y="3245661"/>
                </a:lnTo>
                <a:lnTo>
                  <a:pt x="4462784" y="3245661"/>
                </a:lnTo>
                <a:lnTo>
                  <a:pt x="4462784"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3464611" y="670540"/>
            <a:ext cx="5394683" cy="1194451"/>
          </a:xfrm>
          <a:prstGeom prst="rect">
            <a:avLst/>
          </a:prstGeom>
        </p:spPr>
        <p:txBody>
          <a:bodyPr anchor="t" rtlCol="false" tIns="0" lIns="0" bIns="0" rIns="0">
            <a:spAutoFit/>
          </a:bodyPr>
          <a:lstStyle/>
          <a:p>
            <a:pPr algn="l" marL="0" indent="0" lvl="0">
              <a:lnSpc>
                <a:spcPts val="9764"/>
              </a:lnSpc>
              <a:spcBef>
                <a:spcPct val="0"/>
              </a:spcBef>
            </a:pPr>
            <a:r>
              <a:rPr lang="en-US" b="true" sz="6974">
                <a:solidFill>
                  <a:srgbClr val="197237"/>
                </a:solidFill>
                <a:latin typeface="Inter Bold"/>
                <a:ea typeface="Inter Bold"/>
                <a:cs typeface="Inter Bold"/>
                <a:sym typeface="Inter Bold"/>
              </a:rPr>
              <a:t>Sommaire</a:t>
            </a:r>
          </a:p>
        </p:txBody>
      </p:sp>
      <p:sp>
        <p:nvSpPr>
          <p:cNvPr name="TextBox 8" id="8"/>
          <p:cNvSpPr txBox="true"/>
          <p:nvPr/>
        </p:nvSpPr>
        <p:spPr>
          <a:xfrm rot="0">
            <a:off x="3464611" y="2182500"/>
            <a:ext cx="8178347" cy="6637584"/>
          </a:xfrm>
          <a:prstGeom prst="rect">
            <a:avLst/>
          </a:prstGeom>
        </p:spPr>
        <p:txBody>
          <a:bodyPr anchor="t" rtlCol="false" tIns="0" lIns="0" bIns="0" rIns="0">
            <a:spAutoFit/>
          </a:bodyPr>
          <a:lstStyle/>
          <a:p>
            <a:pPr algn="l" marL="540353" indent="-270177" lvl="1">
              <a:lnSpc>
                <a:spcPts val="3503"/>
              </a:lnSpc>
              <a:buFont typeface="Arial"/>
              <a:buChar char="•"/>
            </a:pPr>
            <a:r>
              <a:rPr lang="en-US" b="true" sz="2502">
                <a:solidFill>
                  <a:srgbClr val="2FA055"/>
                </a:solidFill>
                <a:latin typeface="Inter Bold"/>
                <a:ea typeface="Inter Bold"/>
                <a:cs typeface="Inter Bold"/>
                <a:sym typeface="Inter Bold"/>
              </a:rPr>
              <a:t>Introduction</a:t>
            </a:r>
          </a:p>
          <a:p>
            <a:pPr algn="l" marL="907991" indent="-302664" lvl="2">
              <a:lnSpc>
                <a:spcPts val="2943"/>
              </a:lnSpc>
              <a:buFont typeface="Arial"/>
              <a:buChar char="⚬"/>
            </a:pPr>
            <a:r>
              <a:rPr lang="en-US" sz="2102">
                <a:solidFill>
                  <a:srgbClr val="01070A"/>
                </a:solidFill>
                <a:latin typeface="Inter"/>
                <a:ea typeface="Inter"/>
                <a:cs typeface="Inter"/>
                <a:sym typeface="Inter"/>
              </a:rPr>
              <a:t>Qui sommes-nous ?</a:t>
            </a:r>
          </a:p>
          <a:p>
            <a:pPr algn="l" marL="907991" indent="-302664" lvl="2">
              <a:lnSpc>
                <a:spcPts val="2943"/>
              </a:lnSpc>
              <a:buFont typeface="Arial"/>
              <a:buChar char="⚬"/>
            </a:pPr>
            <a:r>
              <a:rPr lang="en-US" sz="2102">
                <a:solidFill>
                  <a:srgbClr val="01070A"/>
                </a:solidFill>
                <a:latin typeface="Inter"/>
                <a:ea typeface="Inter"/>
                <a:cs typeface="Inter"/>
                <a:sym typeface="Inter"/>
              </a:rPr>
              <a:t>Le besoin de l’association</a:t>
            </a:r>
          </a:p>
          <a:p>
            <a:pPr algn="l" marL="907991" indent="-302664" lvl="2">
              <a:lnSpc>
                <a:spcPts val="2943"/>
              </a:lnSpc>
              <a:buFont typeface="Arial"/>
              <a:buChar char="⚬"/>
            </a:pPr>
            <a:r>
              <a:rPr lang="en-US" sz="2102">
                <a:solidFill>
                  <a:srgbClr val="01070A"/>
                </a:solidFill>
                <a:latin typeface="Inter"/>
                <a:ea typeface="Inter"/>
                <a:cs typeface="Inter"/>
                <a:sym typeface="Inter"/>
              </a:rPr>
              <a:t>Organisation de l’équipe</a:t>
            </a:r>
          </a:p>
          <a:p>
            <a:pPr algn="l" marL="540353" indent="-270177" lvl="1">
              <a:lnSpc>
                <a:spcPts val="3503"/>
              </a:lnSpc>
              <a:buFont typeface="Arial"/>
              <a:buChar char="•"/>
            </a:pPr>
            <a:r>
              <a:rPr lang="en-US" b="true" sz="2502">
                <a:solidFill>
                  <a:srgbClr val="2FA055"/>
                </a:solidFill>
                <a:latin typeface="Inter Bold"/>
                <a:ea typeface="Inter Bold"/>
                <a:cs typeface="Inter Bold"/>
                <a:sym typeface="Inter Bold"/>
              </a:rPr>
              <a:t>Conception</a:t>
            </a:r>
          </a:p>
          <a:p>
            <a:pPr algn="l" marL="907991" indent="-302664" lvl="2">
              <a:lnSpc>
                <a:spcPts val="2943"/>
              </a:lnSpc>
              <a:buFont typeface="Arial"/>
              <a:buChar char="⚬"/>
            </a:pPr>
            <a:r>
              <a:rPr lang="en-US" sz="2102">
                <a:solidFill>
                  <a:srgbClr val="01070A"/>
                </a:solidFill>
                <a:latin typeface="Inter"/>
                <a:ea typeface="Inter"/>
                <a:cs typeface="Inter"/>
                <a:sym typeface="Inter"/>
              </a:rPr>
              <a:t>Cas d’utilisation</a:t>
            </a:r>
          </a:p>
          <a:p>
            <a:pPr algn="l" marL="907991" indent="-302664" lvl="2">
              <a:lnSpc>
                <a:spcPts val="2943"/>
              </a:lnSpc>
              <a:buFont typeface="Arial"/>
              <a:buChar char="⚬"/>
            </a:pPr>
            <a:r>
              <a:rPr lang="en-US" sz="2102">
                <a:solidFill>
                  <a:srgbClr val="01070A"/>
                </a:solidFill>
                <a:latin typeface="Inter"/>
                <a:ea typeface="Inter"/>
                <a:cs typeface="Inter"/>
                <a:sym typeface="Inter"/>
              </a:rPr>
              <a:t>Maquettage</a:t>
            </a:r>
          </a:p>
          <a:p>
            <a:pPr algn="l" marL="907991" indent="-302664" lvl="2">
              <a:lnSpc>
                <a:spcPts val="2943"/>
              </a:lnSpc>
              <a:buFont typeface="Arial"/>
              <a:buChar char="⚬"/>
            </a:pPr>
            <a:r>
              <a:rPr lang="en-US" sz="2102">
                <a:solidFill>
                  <a:srgbClr val="01070A"/>
                </a:solidFill>
                <a:latin typeface="Inter"/>
                <a:ea typeface="Inter"/>
                <a:cs typeface="Inter"/>
                <a:sym typeface="Inter"/>
              </a:rPr>
              <a:t>Schéma Conceptuel de données</a:t>
            </a:r>
          </a:p>
          <a:p>
            <a:pPr algn="l" marL="907991" indent="-302664" lvl="2">
              <a:lnSpc>
                <a:spcPts val="2943"/>
              </a:lnSpc>
              <a:buFont typeface="Arial"/>
              <a:buChar char="⚬"/>
            </a:pPr>
            <a:r>
              <a:rPr lang="en-US" sz="2102">
                <a:solidFill>
                  <a:srgbClr val="01070A"/>
                </a:solidFill>
                <a:latin typeface="Inter"/>
                <a:ea typeface="Inter"/>
                <a:cs typeface="Inter"/>
                <a:sym typeface="Inter"/>
              </a:rPr>
              <a:t>Architecture logicielle</a:t>
            </a:r>
          </a:p>
          <a:p>
            <a:pPr algn="l" marL="540353" indent="-270177" lvl="1">
              <a:lnSpc>
                <a:spcPts val="3503"/>
              </a:lnSpc>
              <a:buFont typeface="Arial"/>
              <a:buChar char="•"/>
            </a:pPr>
            <a:r>
              <a:rPr lang="en-US" b="true" sz="2502">
                <a:solidFill>
                  <a:srgbClr val="2FA055"/>
                </a:solidFill>
                <a:latin typeface="Inter Bold"/>
                <a:ea typeface="Inter Bold"/>
                <a:cs typeface="Inter Bold"/>
                <a:sym typeface="Inter Bold"/>
              </a:rPr>
              <a:t>Focus technique</a:t>
            </a:r>
          </a:p>
          <a:p>
            <a:pPr algn="l" marL="907991" indent="-302664" lvl="2">
              <a:lnSpc>
                <a:spcPts val="2943"/>
              </a:lnSpc>
              <a:buFont typeface="Arial"/>
              <a:buChar char="⚬"/>
            </a:pPr>
            <a:r>
              <a:rPr lang="en-US" sz="2102">
                <a:solidFill>
                  <a:srgbClr val="01070A"/>
                </a:solidFill>
                <a:latin typeface="Inter"/>
                <a:ea typeface="Inter"/>
                <a:cs typeface="Inter"/>
                <a:sym typeface="Inter"/>
              </a:rPr>
              <a:t>Sécurité : Authentification</a:t>
            </a:r>
          </a:p>
          <a:p>
            <a:pPr algn="l" marL="907991" indent="-302664" lvl="2">
              <a:lnSpc>
                <a:spcPts val="2943"/>
              </a:lnSpc>
              <a:buFont typeface="Arial"/>
              <a:buChar char="⚬"/>
            </a:pPr>
            <a:r>
              <a:rPr lang="en-US" sz="2102">
                <a:solidFill>
                  <a:srgbClr val="01070A"/>
                </a:solidFill>
                <a:latin typeface="Inter"/>
                <a:ea typeface="Inter"/>
                <a:cs typeface="Inter"/>
                <a:sym typeface="Inter"/>
              </a:rPr>
              <a:t>Fonctionnalité : Emprunt</a:t>
            </a:r>
          </a:p>
          <a:p>
            <a:pPr algn="l" marL="540353" indent="-270177" lvl="1">
              <a:lnSpc>
                <a:spcPts val="3503"/>
              </a:lnSpc>
              <a:buFont typeface="Arial"/>
              <a:buChar char="•"/>
            </a:pPr>
            <a:r>
              <a:rPr lang="en-US" b="true" sz="2502">
                <a:solidFill>
                  <a:srgbClr val="2FA055"/>
                </a:solidFill>
                <a:latin typeface="Inter Bold"/>
                <a:ea typeface="Inter Bold"/>
                <a:cs typeface="Inter Bold"/>
                <a:sym typeface="Inter Bold"/>
              </a:rPr>
              <a:t>Démo</a:t>
            </a:r>
          </a:p>
          <a:p>
            <a:pPr algn="l" marL="907991" indent="-302664" lvl="2">
              <a:lnSpc>
                <a:spcPts val="2943"/>
              </a:lnSpc>
              <a:buFont typeface="Arial"/>
              <a:buChar char="⚬"/>
            </a:pPr>
            <a:r>
              <a:rPr lang="en-US" sz="2102">
                <a:solidFill>
                  <a:srgbClr val="01070A"/>
                </a:solidFill>
                <a:latin typeface="Inter"/>
                <a:ea typeface="Inter"/>
                <a:cs typeface="Inter"/>
                <a:sym typeface="Inter"/>
              </a:rPr>
              <a:t>Bookhub</a:t>
            </a:r>
          </a:p>
          <a:p>
            <a:pPr algn="l" marL="540353" indent="-270177" lvl="1">
              <a:lnSpc>
                <a:spcPts val="3503"/>
              </a:lnSpc>
              <a:buFont typeface="Arial"/>
              <a:buChar char="•"/>
            </a:pPr>
            <a:r>
              <a:rPr lang="en-US" b="true" sz="2502">
                <a:solidFill>
                  <a:srgbClr val="2FA055"/>
                </a:solidFill>
                <a:latin typeface="Inter Bold"/>
                <a:ea typeface="Inter Bold"/>
                <a:cs typeface="Inter Bold"/>
                <a:sym typeface="Inter Bold"/>
              </a:rPr>
              <a:t>Conclusion</a:t>
            </a:r>
          </a:p>
          <a:p>
            <a:pPr algn="l" marL="907991" indent="-302664" lvl="2">
              <a:lnSpc>
                <a:spcPts val="2943"/>
              </a:lnSpc>
              <a:buFont typeface="Arial"/>
              <a:buChar char="⚬"/>
            </a:pPr>
            <a:r>
              <a:rPr lang="en-US" sz="2102">
                <a:solidFill>
                  <a:srgbClr val="01070A"/>
                </a:solidFill>
                <a:latin typeface="Inter"/>
                <a:ea typeface="Inter"/>
                <a:cs typeface="Inter"/>
                <a:sym typeface="Inter"/>
              </a:rPr>
              <a:t>Bilan du projet</a:t>
            </a:r>
          </a:p>
          <a:p>
            <a:pPr algn="l">
              <a:lnSpc>
                <a:spcPts val="2943"/>
              </a:lnSpc>
            </a:pPr>
          </a:p>
        </p:txBody>
      </p:sp>
      <p:sp>
        <p:nvSpPr>
          <p:cNvPr name="Freeform 9" id="9"/>
          <p:cNvSpPr/>
          <p:nvPr/>
        </p:nvSpPr>
        <p:spPr>
          <a:xfrm flipH="true" flipV="false" rot="0">
            <a:off x="804662" y="6351779"/>
            <a:ext cx="2335168" cy="2427868"/>
          </a:xfrm>
          <a:custGeom>
            <a:avLst/>
            <a:gdLst/>
            <a:ahLst/>
            <a:cxnLst/>
            <a:rect r="r" b="b" t="t" l="l"/>
            <a:pathLst>
              <a:path h="2427868" w="2335168">
                <a:moveTo>
                  <a:pt x="2335168" y="0"/>
                </a:moveTo>
                <a:lnTo>
                  <a:pt x="0" y="0"/>
                </a:lnTo>
                <a:lnTo>
                  <a:pt x="0" y="2427868"/>
                </a:lnTo>
                <a:lnTo>
                  <a:pt x="2335168" y="2427868"/>
                </a:lnTo>
                <a:lnTo>
                  <a:pt x="2335168"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235596" y="123407"/>
            <a:ext cx="1360965" cy="1360965"/>
          </a:xfrm>
          <a:custGeom>
            <a:avLst/>
            <a:gdLst/>
            <a:ahLst/>
            <a:cxnLst/>
            <a:rect r="r" b="b" t="t" l="l"/>
            <a:pathLst>
              <a:path h="1360965" w="1360965">
                <a:moveTo>
                  <a:pt x="0" y="0"/>
                </a:moveTo>
                <a:lnTo>
                  <a:pt x="1360965" y="0"/>
                </a:lnTo>
                <a:lnTo>
                  <a:pt x="1360965" y="1360965"/>
                </a:lnTo>
                <a:lnTo>
                  <a:pt x="0" y="1360965"/>
                </a:lnTo>
                <a:lnTo>
                  <a:pt x="0" y="0"/>
                </a:lnTo>
                <a:close/>
              </a:path>
            </a:pathLst>
          </a:custGeom>
          <a:blipFill>
            <a:blip r:embed="rId7"/>
            <a:stretch>
              <a:fillRect l="0" t="0" r="0" b="0"/>
            </a:stretch>
          </a:blipFill>
        </p:spPr>
      </p:sp>
    </p:spTree>
  </p:cSld>
  <p:clrMapOvr>
    <a:masterClrMapping/>
  </p:clrMapOvr>
  <p:transition spd="fast">
    <p:push dir="l"/>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2573818" y="1611437"/>
            <a:ext cx="13756772" cy="7210222"/>
            <a:chOff x="0" y="0"/>
            <a:chExt cx="3623183" cy="1898988"/>
          </a:xfrm>
        </p:grpSpPr>
        <p:sp>
          <p:nvSpPr>
            <p:cNvPr name="Freeform 4" id="4"/>
            <p:cNvSpPr/>
            <p:nvPr/>
          </p:nvSpPr>
          <p:spPr>
            <a:xfrm flipH="false" flipV="false" rot="0">
              <a:off x="0" y="0"/>
              <a:ext cx="3623183" cy="1898988"/>
            </a:xfrm>
            <a:custGeom>
              <a:avLst/>
              <a:gdLst/>
              <a:ahLst/>
              <a:cxnLst/>
              <a:rect r="r" b="b" t="t" l="l"/>
              <a:pathLst>
                <a:path h="1898988" w="3623183">
                  <a:moveTo>
                    <a:pt x="0" y="0"/>
                  </a:moveTo>
                  <a:lnTo>
                    <a:pt x="3623183" y="0"/>
                  </a:lnTo>
                  <a:lnTo>
                    <a:pt x="3623183" y="1898988"/>
                  </a:lnTo>
                  <a:lnTo>
                    <a:pt x="0" y="1898988"/>
                  </a:lnTo>
                  <a:close/>
                </a:path>
              </a:pathLst>
            </a:custGeom>
            <a:solidFill>
              <a:srgbClr val="000000">
                <a:alpha val="31765"/>
              </a:srgbClr>
            </a:solidFill>
            <a:ln w="38100" cap="sq">
              <a:solidFill>
                <a:srgbClr val="000000">
                  <a:alpha val="31765"/>
                </a:srgbClr>
              </a:solidFill>
              <a:prstDash val="solid"/>
              <a:miter/>
            </a:ln>
          </p:spPr>
        </p:sp>
        <p:sp>
          <p:nvSpPr>
            <p:cNvPr name="TextBox 5" id="5"/>
            <p:cNvSpPr txBox="true"/>
            <p:nvPr/>
          </p:nvSpPr>
          <p:spPr>
            <a:xfrm>
              <a:off x="0" y="-47625"/>
              <a:ext cx="3623183" cy="1946613"/>
            </a:xfrm>
            <a:prstGeom prst="rect">
              <a:avLst/>
            </a:prstGeom>
          </p:spPr>
          <p:txBody>
            <a:bodyPr anchor="ctr" rtlCol="false" tIns="50800" lIns="50800" bIns="50800" rIns="50800"/>
            <a:lstStyle/>
            <a:p>
              <a:pPr algn="ctr">
                <a:lnSpc>
                  <a:spcPts val="3210"/>
                </a:lnSpc>
              </a:pPr>
            </a:p>
          </p:txBody>
        </p:sp>
      </p:grpSp>
      <p:grpSp>
        <p:nvGrpSpPr>
          <p:cNvPr name="Group 6" id="6"/>
          <p:cNvGrpSpPr/>
          <p:nvPr/>
        </p:nvGrpSpPr>
        <p:grpSpPr>
          <a:xfrm rot="-147716">
            <a:off x="1969301" y="1250612"/>
            <a:ext cx="13811124" cy="7277772"/>
            <a:chOff x="0" y="0"/>
            <a:chExt cx="3637498" cy="1916779"/>
          </a:xfrm>
        </p:grpSpPr>
        <p:sp>
          <p:nvSpPr>
            <p:cNvPr name="Freeform 7" id="7"/>
            <p:cNvSpPr/>
            <p:nvPr/>
          </p:nvSpPr>
          <p:spPr>
            <a:xfrm flipH="false" flipV="false" rot="0">
              <a:off x="0" y="0"/>
              <a:ext cx="3637498" cy="1916780"/>
            </a:xfrm>
            <a:custGeom>
              <a:avLst/>
              <a:gdLst/>
              <a:ahLst/>
              <a:cxnLst/>
              <a:rect r="r" b="b" t="t" l="l"/>
              <a:pathLst>
                <a:path h="1916780" w="3637498">
                  <a:moveTo>
                    <a:pt x="6166" y="0"/>
                  </a:moveTo>
                  <a:lnTo>
                    <a:pt x="3631331" y="0"/>
                  </a:lnTo>
                  <a:cubicBezTo>
                    <a:pt x="3632967" y="0"/>
                    <a:pt x="3634536" y="650"/>
                    <a:pt x="3635692" y="1806"/>
                  </a:cubicBezTo>
                  <a:cubicBezTo>
                    <a:pt x="3636848" y="2962"/>
                    <a:pt x="3637498" y="4531"/>
                    <a:pt x="3637498" y="6166"/>
                  </a:cubicBezTo>
                  <a:lnTo>
                    <a:pt x="3637498" y="1910613"/>
                  </a:lnTo>
                  <a:cubicBezTo>
                    <a:pt x="3637498" y="1912249"/>
                    <a:pt x="3636848" y="1913817"/>
                    <a:pt x="3635692" y="1914973"/>
                  </a:cubicBezTo>
                  <a:cubicBezTo>
                    <a:pt x="3634536" y="1916130"/>
                    <a:pt x="3632967" y="1916780"/>
                    <a:pt x="3631331" y="1916780"/>
                  </a:cubicBezTo>
                  <a:lnTo>
                    <a:pt x="6166" y="1916780"/>
                  </a:lnTo>
                  <a:cubicBezTo>
                    <a:pt x="4531" y="1916780"/>
                    <a:pt x="2962" y="1916130"/>
                    <a:pt x="1806" y="1914973"/>
                  </a:cubicBezTo>
                  <a:cubicBezTo>
                    <a:pt x="650" y="1913817"/>
                    <a:pt x="0" y="1912249"/>
                    <a:pt x="0" y="1910613"/>
                  </a:cubicBezTo>
                  <a:lnTo>
                    <a:pt x="0" y="6166"/>
                  </a:lnTo>
                  <a:cubicBezTo>
                    <a:pt x="0" y="4531"/>
                    <a:pt x="650" y="2962"/>
                    <a:pt x="1806" y="1806"/>
                  </a:cubicBezTo>
                  <a:cubicBezTo>
                    <a:pt x="2962" y="650"/>
                    <a:pt x="4531" y="0"/>
                    <a:pt x="6166" y="0"/>
                  </a:cubicBezTo>
                  <a:close/>
                </a:path>
              </a:pathLst>
            </a:custGeom>
            <a:solidFill>
              <a:srgbClr val="FFFFFF"/>
            </a:solidFill>
            <a:ln w="38100" cap="sq">
              <a:solidFill>
                <a:srgbClr val="154428"/>
              </a:solidFill>
              <a:prstDash val="solid"/>
              <a:miter/>
            </a:ln>
          </p:spPr>
        </p:sp>
        <p:sp>
          <p:nvSpPr>
            <p:cNvPr name="TextBox 8" id="8"/>
            <p:cNvSpPr txBox="true"/>
            <p:nvPr/>
          </p:nvSpPr>
          <p:spPr>
            <a:xfrm>
              <a:off x="0" y="-47625"/>
              <a:ext cx="3637498" cy="1964404"/>
            </a:xfrm>
            <a:prstGeom prst="rect">
              <a:avLst/>
            </a:prstGeom>
          </p:spPr>
          <p:txBody>
            <a:bodyPr anchor="ctr" rtlCol="false" tIns="50800" lIns="50800" bIns="50800" rIns="50800"/>
            <a:lstStyle/>
            <a:p>
              <a:pPr algn="ctr">
                <a:lnSpc>
                  <a:spcPts val="3210"/>
                </a:lnSpc>
              </a:pPr>
            </a:p>
          </p:txBody>
        </p:sp>
      </p:grpSp>
      <p:sp>
        <p:nvSpPr>
          <p:cNvPr name="Freeform 9" id="9"/>
          <p:cNvSpPr/>
          <p:nvPr/>
        </p:nvSpPr>
        <p:spPr>
          <a:xfrm flipH="false" flipV="false" rot="0">
            <a:off x="6928985" y="896555"/>
            <a:ext cx="3667332" cy="946839"/>
          </a:xfrm>
          <a:custGeom>
            <a:avLst/>
            <a:gdLst/>
            <a:ahLst/>
            <a:cxnLst/>
            <a:rect r="r" b="b" t="t" l="l"/>
            <a:pathLst>
              <a:path h="946839" w="3667332">
                <a:moveTo>
                  <a:pt x="0" y="0"/>
                </a:moveTo>
                <a:lnTo>
                  <a:pt x="3667333" y="0"/>
                </a:lnTo>
                <a:lnTo>
                  <a:pt x="3667333" y="946839"/>
                </a:lnTo>
                <a:lnTo>
                  <a:pt x="0" y="9468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2744312" y="4682414"/>
            <a:ext cx="1498632" cy="414167"/>
          </a:xfrm>
          <a:custGeom>
            <a:avLst/>
            <a:gdLst/>
            <a:ahLst/>
            <a:cxnLst/>
            <a:rect r="r" b="b" t="t" l="l"/>
            <a:pathLst>
              <a:path h="414167" w="1498632">
                <a:moveTo>
                  <a:pt x="0" y="0"/>
                </a:moveTo>
                <a:lnTo>
                  <a:pt x="1498632" y="0"/>
                </a:lnTo>
                <a:lnTo>
                  <a:pt x="1498632" y="414167"/>
                </a:lnTo>
                <a:lnTo>
                  <a:pt x="0" y="4141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2469465" y="5905716"/>
            <a:ext cx="6921795" cy="4114800"/>
          </a:xfrm>
          <a:custGeom>
            <a:avLst/>
            <a:gdLst/>
            <a:ahLst/>
            <a:cxnLst/>
            <a:rect r="r" b="b" t="t" l="l"/>
            <a:pathLst>
              <a:path h="4114800" w="6921795">
                <a:moveTo>
                  <a:pt x="0" y="0"/>
                </a:moveTo>
                <a:lnTo>
                  <a:pt x="6921795" y="0"/>
                </a:lnTo>
                <a:lnTo>
                  <a:pt x="6921795"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6063256" y="2147162"/>
            <a:ext cx="5623213" cy="1077409"/>
          </a:xfrm>
          <a:prstGeom prst="rect">
            <a:avLst/>
          </a:prstGeom>
        </p:spPr>
        <p:txBody>
          <a:bodyPr anchor="t" rtlCol="false" tIns="0" lIns="0" bIns="0" rIns="0">
            <a:spAutoFit/>
          </a:bodyPr>
          <a:lstStyle/>
          <a:p>
            <a:pPr algn="ctr" marL="0" indent="0" lvl="0">
              <a:lnSpc>
                <a:spcPts val="8865"/>
              </a:lnSpc>
              <a:spcBef>
                <a:spcPct val="0"/>
              </a:spcBef>
            </a:pPr>
            <a:r>
              <a:rPr lang="en-US" b="true" sz="6332">
                <a:solidFill>
                  <a:srgbClr val="197237"/>
                </a:solidFill>
                <a:latin typeface="Inter Bold"/>
                <a:ea typeface="Inter Bold"/>
                <a:cs typeface="Inter Bold"/>
                <a:sym typeface="Inter Bold"/>
              </a:rPr>
              <a:t>Introduction</a:t>
            </a:r>
          </a:p>
        </p:txBody>
      </p:sp>
      <p:sp>
        <p:nvSpPr>
          <p:cNvPr name="TextBox 13" id="13"/>
          <p:cNvSpPr txBox="true"/>
          <p:nvPr/>
        </p:nvSpPr>
        <p:spPr>
          <a:xfrm rot="0">
            <a:off x="2875603" y="3512985"/>
            <a:ext cx="12091825" cy="3792681"/>
          </a:xfrm>
          <a:prstGeom prst="rect">
            <a:avLst/>
          </a:prstGeom>
        </p:spPr>
        <p:txBody>
          <a:bodyPr anchor="t" rtlCol="false" tIns="0" lIns="0" bIns="0" rIns="0">
            <a:spAutoFit/>
          </a:bodyPr>
          <a:lstStyle/>
          <a:p>
            <a:pPr algn="just">
              <a:lnSpc>
                <a:spcPts val="3054"/>
              </a:lnSpc>
            </a:pPr>
            <a:r>
              <a:rPr lang="en-US" sz="2181">
                <a:solidFill>
                  <a:srgbClr val="01070A"/>
                </a:solidFill>
                <a:latin typeface="Inter"/>
                <a:ea typeface="Inter"/>
                <a:cs typeface="Inter"/>
                <a:sym typeface="Inter"/>
              </a:rPr>
              <a:t>Nous sommes une start-up spécialisée dans le développement numérique à impact solidaire. </a:t>
            </a:r>
          </a:p>
          <a:p>
            <a:pPr algn="just">
              <a:lnSpc>
                <a:spcPts val="3054"/>
              </a:lnSpc>
            </a:pPr>
            <a:r>
              <a:rPr lang="en-US" sz="2181">
                <a:solidFill>
                  <a:srgbClr val="01070A"/>
                </a:solidFill>
                <a:latin typeface="Inter"/>
                <a:ea typeface="Inter"/>
                <a:cs typeface="Inter"/>
                <a:sym typeface="Inter"/>
              </a:rPr>
              <a:t>Notre mission ? Mettre l’innovation technologique au service de l’humain et du lien social.</a:t>
            </a:r>
          </a:p>
          <a:p>
            <a:pPr algn="just">
              <a:lnSpc>
                <a:spcPts val="3054"/>
              </a:lnSpc>
            </a:pPr>
          </a:p>
          <a:p>
            <a:pPr algn="just">
              <a:lnSpc>
                <a:spcPts val="3054"/>
              </a:lnSpc>
            </a:pPr>
            <a:r>
              <a:rPr lang="en-US" sz="2181">
                <a:solidFill>
                  <a:srgbClr val="01070A"/>
                </a:solidFill>
                <a:latin typeface="Inter"/>
                <a:ea typeface="Inter"/>
                <a:cs typeface="Inter"/>
                <a:sym typeface="Inter"/>
              </a:rPr>
              <a:t>Face aux défis de l’association </a:t>
            </a:r>
            <a:r>
              <a:rPr lang="en-US" sz="2181" i="true">
                <a:solidFill>
                  <a:srgbClr val="01070A"/>
                </a:solidFill>
                <a:latin typeface="Inter Italics"/>
                <a:ea typeface="Inter Italics"/>
                <a:cs typeface="Inter Italics"/>
                <a:sym typeface="Inter Italics"/>
              </a:rPr>
              <a:t>Quartier Solidaire</a:t>
            </a:r>
            <a:r>
              <a:rPr lang="en-US" sz="2181">
                <a:solidFill>
                  <a:srgbClr val="01070A"/>
                </a:solidFill>
                <a:latin typeface="Inter"/>
                <a:ea typeface="Inter"/>
                <a:cs typeface="Inter"/>
                <a:sym typeface="Inter"/>
              </a:rPr>
              <a:t>, nous développons </a:t>
            </a:r>
            <a:r>
              <a:rPr lang="en-US" sz="2181" b="true">
                <a:solidFill>
                  <a:srgbClr val="01070A"/>
                </a:solidFill>
                <a:latin typeface="Inter Bold"/>
                <a:ea typeface="Inter Bold"/>
                <a:cs typeface="Inter Bold"/>
                <a:sym typeface="Inter Bold"/>
              </a:rPr>
              <a:t>Bookhub</a:t>
            </a:r>
            <a:r>
              <a:rPr lang="en-US" sz="2181">
                <a:solidFill>
                  <a:srgbClr val="01070A"/>
                </a:solidFill>
                <a:latin typeface="Inter"/>
                <a:ea typeface="Inter"/>
                <a:cs typeface="Inter"/>
                <a:sym typeface="Inter"/>
              </a:rPr>
              <a:t>, une plateforme web moderne, inclusive et éco-conçue.</a:t>
            </a:r>
          </a:p>
          <a:p>
            <a:pPr algn="just">
              <a:lnSpc>
                <a:spcPts val="3054"/>
              </a:lnSpc>
            </a:pPr>
          </a:p>
          <a:p>
            <a:pPr algn="just">
              <a:lnSpc>
                <a:spcPts val="3054"/>
              </a:lnSpc>
            </a:pPr>
            <a:r>
              <a:rPr lang="en-US" sz="2181">
                <a:solidFill>
                  <a:srgbClr val="01070A"/>
                </a:solidFill>
                <a:latin typeface="Inter"/>
                <a:ea typeface="Inter"/>
                <a:cs typeface="Inter"/>
                <a:sym typeface="Inter"/>
              </a:rPr>
              <a:t>Notre objectif est de propulser la gestion de leur bibliothèque communautaire dans l’ère de numérique responsable, en transformant leurs processus manuels en une expérience fluide et collaborative pour les lecteurs, les bibliothécaires et les administrateurs. </a:t>
            </a:r>
          </a:p>
          <a:p>
            <a:pPr algn="just">
              <a:lnSpc>
                <a:spcPts val="3054"/>
              </a:lnSpc>
            </a:pPr>
          </a:p>
        </p:txBody>
      </p:sp>
      <p:sp>
        <p:nvSpPr>
          <p:cNvPr name="Freeform 14" id="14"/>
          <p:cNvSpPr/>
          <p:nvPr/>
        </p:nvSpPr>
        <p:spPr>
          <a:xfrm flipH="false" flipV="false" rot="0">
            <a:off x="251672" y="235942"/>
            <a:ext cx="1360965" cy="1360965"/>
          </a:xfrm>
          <a:custGeom>
            <a:avLst/>
            <a:gdLst/>
            <a:ahLst/>
            <a:cxnLst/>
            <a:rect r="r" b="b" t="t" l="l"/>
            <a:pathLst>
              <a:path h="1360965" w="1360965">
                <a:moveTo>
                  <a:pt x="0" y="0"/>
                </a:moveTo>
                <a:lnTo>
                  <a:pt x="1360965" y="0"/>
                </a:lnTo>
                <a:lnTo>
                  <a:pt x="1360965" y="1360966"/>
                </a:lnTo>
                <a:lnTo>
                  <a:pt x="0" y="1360966"/>
                </a:lnTo>
                <a:lnTo>
                  <a:pt x="0" y="0"/>
                </a:lnTo>
                <a:close/>
              </a:path>
            </a:pathLst>
          </a:custGeom>
          <a:blipFill>
            <a:blip r:embed="rId9"/>
            <a:stretch>
              <a:fillRect l="0" t="0" r="0" b="0"/>
            </a:stretch>
          </a:blipFill>
        </p:spPr>
      </p:sp>
    </p:spTree>
  </p:cSld>
  <p:clrMapOvr>
    <a:masterClrMapping/>
  </p:clrMapOvr>
  <p:transition spd="fast">
    <p:push dir="l"/>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2411220" y="1451986"/>
            <a:ext cx="13465560" cy="7383028"/>
            <a:chOff x="0" y="0"/>
            <a:chExt cx="3546485" cy="1944501"/>
          </a:xfrm>
        </p:grpSpPr>
        <p:sp>
          <p:nvSpPr>
            <p:cNvPr name="Freeform 4" id="4"/>
            <p:cNvSpPr/>
            <p:nvPr/>
          </p:nvSpPr>
          <p:spPr>
            <a:xfrm flipH="false" flipV="false" rot="0">
              <a:off x="0" y="0"/>
              <a:ext cx="3546485" cy="1944501"/>
            </a:xfrm>
            <a:custGeom>
              <a:avLst/>
              <a:gdLst/>
              <a:ahLst/>
              <a:cxnLst/>
              <a:rect r="r" b="b" t="t" l="l"/>
              <a:pathLst>
                <a:path h="1944501" w="3546485">
                  <a:moveTo>
                    <a:pt x="6324" y="0"/>
                  </a:moveTo>
                  <a:lnTo>
                    <a:pt x="3540161" y="0"/>
                  </a:lnTo>
                  <a:cubicBezTo>
                    <a:pt x="3541838" y="0"/>
                    <a:pt x="3543447" y="666"/>
                    <a:pt x="3544633" y="1852"/>
                  </a:cubicBezTo>
                  <a:cubicBezTo>
                    <a:pt x="3545819" y="3038"/>
                    <a:pt x="3546485" y="4647"/>
                    <a:pt x="3546485" y="6324"/>
                  </a:cubicBezTo>
                  <a:lnTo>
                    <a:pt x="3546485" y="1938177"/>
                  </a:lnTo>
                  <a:cubicBezTo>
                    <a:pt x="3546485" y="1939854"/>
                    <a:pt x="3545819" y="1941463"/>
                    <a:pt x="3544633" y="1942649"/>
                  </a:cubicBezTo>
                  <a:cubicBezTo>
                    <a:pt x="3543447" y="1943835"/>
                    <a:pt x="3541838" y="1944501"/>
                    <a:pt x="3540161" y="1944501"/>
                  </a:cubicBezTo>
                  <a:lnTo>
                    <a:pt x="6324" y="1944501"/>
                  </a:lnTo>
                  <a:cubicBezTo>
                    <a:pt x="4647" y="1944501"/>
                    <a:pt x="3038" y="1943835"/>
                    <a:pt x="1852" y="1942649"/>
                  </a:cubicBezTo>
                  <a:cubicBezTo>
                    <a:pt x="666" y="1941463"/>
                    <a:pt x="0" y="1939854"/>
                    <a:pt x="0" y="1938177"/>
                  </a:cubicBezTo>
                  <a:lnTo>
                    <a:pt x="0" y="6324"/>
                  </a:lnTo>
                  <a:cubicBezTo>
                    <a:pt x="0" y="4647"/>
                    <a:pt x="666" y="3038"/>
                    <a:pt x="1852" y="1852"/>
                  </a:cubicBezTo>
                  <a:cubicBezTo>
                    <a:pt x="3038" y="666"/>
                    <a:pt x="4647" y="0"/>
                    <a:pt x="6324" y="0"/>
                  </a:cubicBezTo>
                  <a:close/>
                </a:path>
              </a:pathLst>
            </a:custGeom>
            <a:solidFill>
              <a:srgbClr val="FFFFFF"/>
            </a:solidFill>
            <a:ln w="38100" cap="sq">
              <a:solidFill>
                <a:srgbClr val="154428"/>
              </a:solidFill>
              <a:prstDash val="solid"/>
              <a:miter/>
            </a:ln>
          </p:spPr>
        </p:sp>
        <p:sp>
          <p:nvSpPr>
            <p:cNvPr name="TextBox 5" id="5"/>
            <p:cNvSpPr txBox="true"/>
            <p:nvPr/>
          </p:nvSpPr>
          <p:spPr>
            <a:xfrm>
              <a:off x="0" y="-47625"/>
              <a:ext cx="3546485" cy="1992126"/>
            </a:xfrm>
            <a:prstGeom prst="rect">
              <a:avLst/>
            </a:prstGeom>
          </p:spPr>
          <p:txBody>
            <a:bodyPr anchor="ctr" rtlCol="false" tIns="50800" lIns="50800" bIns="50800" rIns="50800"/>
            <a:lstStyle/>
            <a:p>
              <a:pPr algn="ctr">
                <a:lnSpc>
                  <a:spcPts val="3210"/>
                </a:lnSpc>
              </a:pPr>
            </a:p>
          </p:txBody>
        </p:sp>
      </p:grpSp>
      <p:sp>
        <p:nvSpPr>
          <p:cNvPr name="Freeform 6" id="6"/>
          <p:cNvSpPr/>
          <p:nvPr/>
        </p:nvSpPr>
        <p:spPr>
          <a:xfrm flipH="false" flipV="false" rot="0">
            <a:off x="276159" y="6894969"/>
            <a:ext cx="3835024" cy="3091905"/>
          </a:xfrm>
          <a:custGeom>
            <a:avLst/>
            <a:gdLst/>
            <a:ahLst/>
            <a:cxnLst/>
            <a:rect r="r" b="b" t="t" l="l"/>
            <a:pathLst>
              <a:path h="3091905" w="3835024">
                <a:moveTo>
                  <a:pt x="0" y="0"/>
                </a:moveTo>
                <a:lnTo>
                  <a:pt x="3835024" y="0"/>
                </a:lnTo>
                <a:lnTo>
                  <a:pt x="3835024" y="3091905"/>
                </a:lnTo>
                <a:lnTo>
                  <a:pt x="0" y="30919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1664827" y="7806013"/>
            <a:ext cx="5792103" cy="2522235"/>
          </a:xfrm>
          <a:custGeom>
            <a:avLst/>
            <a:gdLst/>
            <a:ahLst/>
            <a:cxnLst/>
            <a:rect r="r" b="b" t="t" l="l"/>
            <a:pathLst>
              <a:path h="2522235" w="5792103">
                <a:moveTo>
                  <a:pt x="0" y="0"/>
                </a:moveTo>
                <a:lnTo>
                  <a:pt x="5792103" y="0"/>
                </a:lnTo>
                <a:lnTo>
                  <a:pt x="5792103" y="2522235"/>
                </a:lnTo>
                <a:lnTo>
                  <a:pt x="0" y="25222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3205950" y="4505085"/>
            <a:ext cx="1989890" cy="1881351"/>
          </a:xfrm>
          <a:custGeom>
            <a:avLst/>
            <a:gdLst/>
            <a:ahLst/>
            <a:cxnLst/>
            <a:rect r="r" b="b" t="t" l="l"/>
            <a:pathLst>
              <a:path h="1881351" w="1989890">
                <a:moveTo>
                  <a:pt x="0" y="0"/>
                </a:moveTo>
                <a:lnTo>
                  <a:pt x="1989890" y="0"/>
                </a:lnTo>
                <a:lnTo>
                  <a:pt x="1989890" y="1881350"/>
                </a:lnTo>
                <a:lnTo>
                  <a:pt x="0" y="188135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4762897" y="1506787"/>
            <a:ext cx="8762207" cy="1077409"/>
          </a:xfrm>
          <a:prstGeom prst="rect">
            <a:avLst/>
          </a:prstGeom>
        </p:spPr>
        <p:txBody>
          <a:bodyPr anchor="t" rtlCol="false" tIns="0" lIns="0" bIns="0" rIns="0">
            <a:spAutoFit/>
          </a:bodyPr>
          <a:lstStyle/>
          <a:p>
            <a:pPr algn="ctr" marL="0" indent="0" lvl="0">
              <a:lnSpc>
                <a:spcPts val="8865"/>
              </a:lnSpc>
              <a:spcBef>
                <a:spcPct val="0"/>
              </a:spcBef>
            </a:pPr>
            <a:r>
              <a:rPr lang="en-US" b="true" sz="6332">
                <a:solidFill>
                  <a:srgbClr val="197237"/>
                </a:solidFill>
                <a:latin typeface="Inter Bold"/>
                <a:ea typeface="Inter Bold"/>
                <a:cs typeface="Inter Bold"/>
                <a:sym typeface="Inter Bold"/>
              </a:rPr>
              <a:t>C</a:t>
            </a:r>
            <a:r>
              <a:rPr lang="en-US" b="true" sz="6332">
                <a:solidFill>
                  <a:srgbClr val="197237"/>
                </a:solidFill>
                <a:latin typeface="Inter Bold"/>
                <a:ea typeface="Inter Bold"/>
                <a:cs typeface="Inter Bold"/>
                <a:sym typeface="Inter Bold"/>
              </a:rPr>
              <a:t>onception</a:t>
            </a:r>
          </a:p>
        </p:txBody>
      </p:sp>
      <p:sp>
        <p:nvSpPr>
          <p:cNvPr name="TextBox 10" id="10"/>
          <p:cNvSpPr txBox="true"/>
          <p:nvPr/>
        </p:nvSpPr>
        <p:spPr>
          <a:xfrm rot="0">
            <a:off x="5857427" y="4101755"/>
            <a:ext cx="9207739" cy="2649911"/>
          </a:xfrm>
          <a:prstGeom prst="rect">
            <a:avLst/>
          </a:prstGeom>
        </p:spPr>
        <p:txBody>
          <a:bodyPr anchor="t" rtlCol="false" tIns="0" lIns="0" bIns="0" rIns="0">
            <a:spAutoFit/>
          </a:bodyPr>
          <a:lstStyle/>
          <a:p>
            <a:pPr algn="just">
              <a:lnSpc>
                <a:spcPts val="3041"/>
              </a:lnSpc>
            </a:pPr>
            <a:r>
              <a:rPr lang="en-US" sz="2172">
                <a:solidFill>
                  <a:srgbClr val="01070A"/>
                </a:solidFill>
                <a:latin typeface="Inter"/>
                <a:ea typeface="Inter"/>
                <a:cs typeface="Inter"/>
                <a:sym typeface="Inter"/>
              </a:rPr>
              <a:t>P</a:t>
            </a:r>
            <a:r>
              <a:rPr lang="en-US" sz="2172" strike="noStrike" u="none">
                <a:solidFill>
                  <a:srgbClr val="01070A"/>
                </a:solidFill>
                <a:latin typeface="Inter"/>
                <a:ea typeface="Inter"/>
                <a:cs typeface="Inter"/>
                <a:sym typeface="Inter"/>
              </a:rPr>
              <a:t>our relever ce défi, nous avons dû tenir compte des problématiques rencontrées par la bibliothèque, de son contexte organisationnel, ainsi que les enjeux stratégiques afin de les transformer en spécifications techniques. </a:t>
            </a:r>
          </a:p>
          <a:p>
            <a:pPr algn="just">
              <a:lnSpc>
                <a:spcPts val="3041"/>
              </a:lnSpc>
            </a:pPr>
          </a:p>
          <a:p>
            <a:pPr algn="just">
              <a:lnSpc>
                <a:spcPts val="3041"/>
              </a:lnSpc>
            </a:pPr>
            <a:r>
              <a:rPr lang="en-US" sz="2172" strike="noStrike" u="none">
                <a:solidFill>
                  <a:srgbClr val="01070A"/>
                </a:solidFill>
                <a:latin typeface="Inter"/>
                <a:ea typeface="Inter"/>
                <a:cs typeface="Inter"/>
                <a:sym typeface="Inter"/>
              </a:rPr>
              <a:t>C’est ainsi que nous avons amorcé la phase de conception.</a:t>
            </a:r>
          </a:p>
          <a:p>
            <a:pPr algn="just">
              <a:lnSpc>
                <a:spcPts val="3041"/>
              </a:lnSpc>
            </a:pPr>
          </a:p>
        </p:txBody>
      </p:sp>
      <p:sp>
        <p:nvSpPr>
          <p:cNvPr name="Freeform 11" id="11"/>
          <p:cNvSpPr/>
          <p:nvPr/>
        </p:nvSpPr>
        <p:spPr>
          <a:xfrm flipH="false" flipV="false" rot="0">
            <a:off x="251672" y="235942"/>
            <a:ext cx="1360965" cy="1360965"/>
          </a:xfrm>
          <a:custGeom>
            <a:avLst/>
            <a:gdLst/>
            <a:ahLst/>
            <a:cxnLst/>
            <a:rect r="r" b="b" t="t" l="l"/>
            <a:pathLst>
              <a:path h="1360965" w="1360965">
                <a:moveTo>
                  <a:pt x="0" y="0"/>
                </a:moveTo>
                <a:lnTo>
                  <a:pt x="1360965" y="0"/>
                </a:lnTo>
                <a:lnTo>
                  <a:pt x="1360965" y="1360966"/>
                </a:lnTo>
                <a:lnTo>
                  <a:pt x="0" y="1360966"/>
                </a:lnTo>
                <a:lnTo>
                  <a:pt x="0" y="0"/>
                </a:lnTo>
                <a:close/>
              </a:path>
            </a:pathLst>
          </a:custGeom>
          <a:blipFill>
            <a:blip r:embed="rId9"/>
            <a:stretch>
              <a:fillRect l="0" t="0" r="0" b="0"/>
            </a:stretch>
          </a:blipFill>
        </p:spPr>
      </p:sp>
    </p:spTree>
  </p:cSld>
  <p:clrMapOvr>
    <a:masterClrMapping/>
  </p:clrMapOvr>
  <p:transition spd="fast">
    <p:push dir="l"/>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1818968" y="1760572"/>
            <a:ext cx="7981447" cy="7379489"/>
            <a:chOff x="0" y="0"/>
            <a:chExt cx="2447010" cy="2262458"/>
          </a:xfrm>
        </p:grpSpPr>
        <p:sp>
          <p:nvSpPr>
            <p:cNvPr name="Freeform 4" id="4"/>
            <p:cNvSpPr/>
            <p:nvPr/>
          </p:nvSpPr>
          <p:spPr>
            <a:xfrm flipH="false" flipV="false" rot="0">
              <a:off x="0" y="0"/>
              <a:ext cx="2447010" cy="2262458"/>
            </a:xfrm>
            <a:custGeom>
              <a:avLst/>
              <a:gdLst/>
              <a:ahLst/>
              <a:cxnLst/>
              <a:rect r="r" b="b" t="t" l="l"/>
              <a:pathLst>
                <a:path h="2262458" w="2447010">
                  <a:moveTo>
                    <a:pt x="10670" y="0"/>
                  </a:moveTo>
                  <a:lnTo>
                    <a:pt x="2436340" y="0"/>
                  </a:lnTo>
                  <a:cubicBezTo>
                    <a:pt x="2439170" y="0"/>
                    <a:pt x="2441884" y="1124"/>
                    <a:pt x="2443885" y="3125"/>
                  </a:cubicBezTo>
                  <a:cubicBezTo>
                    <a:pt x="2445886" y="5126"/>
                    <a:pt x="2447010" y="7840"/>
                    <a:pt x="2447010" y="10670"/>
                  </a:cubicBezTo>
                  <a:lnTo>
                    <a:pt x="2447010" y="2251788"/>
                  </a:lnTo>
                  <a:cubicBezTo>
                    <a:pt x="2447010" y="2257681"/>
                    <a:pt x="2442233" y="2262458"/>
                    <a:pt x="2436340" y="2262458"/>
                  </a:cubicBezTo>
                  <a:lnTo>
                    <a:pt x="10670" y="2262458"/>
                  </a:lnTo>
                  <a:cubicBezTo>
                    <a:pt x="7840" y="2262458"/>
                    <a:pt x="5126" y="2261334"/>
                    <a:pt x="3125" y="2259333"/>
                  </a:cubicBezTo>
                  <a:cubicBezTo>
                    <a:pt x="1124" y="2257332"/>
                    <a:pt x="0" y="2254618"/>
                    <a:pt x="0" y="2251788"/>
                  </a:cubicBezTo>
                  <a:lnTo>
                    <a:pt x="0" y="10670"/>
                  </a:lnTo>
                  <a:cubicBezTo>
                    <a:pt x="0" y="4777"/>
                    <a:pt x="4777" y="0"/>
                    <a:pt x="10670" y="0"/>
                  </a:cubicBezTo>
                  <a:close/>
                </a:path>
              </a:pathLst>
            </a:custGeom>
            <a:solidFill>
              <a:srgbClr val="FFFFFF"/>
            </a:solidFill>
            <a:ln w="38100" cap="sq">
              <a:solidFill>
                <a:srgbClr val="154428"/>
              </a:solidFill>
              <a:prstDash val="solid"/>
              <a:miter/>
            </a:ln>
          </p:spPr>
        </p:sp>
        <p:sp>
          <p:nvSpPr>
            <p:cNvPr name="TextBox 5" id="5"/>
            <p:cNvSpPr txBox="true"/>
            <p:nvPr/>
          </p:nvSpPr>
          <p:spPr>
            <a:xfrm>
              <a:off x="0" y="-47625"/>
              <a:ext cx="2447010" cy="2310083"/>
            </a:xfrm>
            <a:prstGeom prst="rect">
              <a:avLst/>
            </a:prstGeom>
          </p:spPr>
          <p:txBody>
            <a:bodyPr anchor="ctr" rtlCol="false" tIns="50800" lIns="50800" bIns="50800" rIns="50800"/>
            <a:lstStyle/>
            <a:p>
              <a:pPr algn="ctr">
                <a:lnSpc>
                  <a:spcPts val="3210"/>
                </a:lnSpc>
              </a:pPr>
            </a:p>
          </p:txBody>
        </p:sp>
      </p:grpSp>
      <p:sp>
        <p:nvSpPr>
          <p:cNvPr name="Freeform 6" id="6"/>
          <p:cNvSpPr/>
          <p:nvPr/>
        </p:nvSpPr>
        <p:spPr>
          <a:xfrm flipH="false" flipV="false" rot="0">
            <a:off x="209671" y="6753080"/>
            <a:ext cx="3584090" cy="3192451"/>
          </a:xfrm>
          <a:custGeom>
            <a:avLst/>
            <a:gdLst/>
            <a:ahLst/>
            <a:cxnLst/>
            <a:rect r="r" b="b" t="t" l="l"/>
            <a:pathLst>
              <a:path h="3192451" w="3584090">
                <a:moveTo>
                  <a:pt x="0" y="0"/>
                </a:moveTo>
                <a:lnTo>
                  <a:pt x="3584090" y="0"/>
                </a:lnTo>
                <a:lnTo>
                  <a:pt x="3584090" y="3192451"/>
                </a:lnTo>
                <a:lnTo>
                  <a:pt x="0" y="31924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1437982">
            <a:off x="8342879" y="246438"/>
            <a:ext cx="3160431" cy="3028267"/>
          </a:xfrm>
          <a:custGeom>
            <a:avLst/>
            <a:gdLst/>
            <a:ahLst/>
            <a:cxnLst/>
            <a:rect r="r" b="b" t="t" l="l"/>
            <a:pathLst>
              <a:path h="3028267" w="3160431">
                <a:moveTo>
                  <a:pt x="0" y="0"/>
                </a:moveTo>
                <a:lnTo>
                  <a:pt x="3160431" y="0"/>
                </a:lnTo>
                <a:lnTo>
                  <a:pt x="3160431" y="3028268"/>
                </a:lnTo>
                <a:lnTo>
                  <a:pt x="0" y="302826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3086695" y="2134498"/>
            <a:ext cx="5445992" cy="920628"/>
          </a:xfrm>
          <a:prstGeom prst="rect">
            <a:avLst/>
          </a:prstGeom>
        </p:spPr>
        <p:txBody>
          <a:bodyPr anchor="t" rtlCol="false" tIns="0" lIns="0" bIns="0" rIns="0">
            <a:spAutoFit/>
          </a:bodyPr>
          <a:lstStyle/>
          <a:p>
            <a:pPr algn="ctr" marL="0" indent="0" lvl="0">
              <a:lnSpc>
                <a:spcPts val="7531"/>
              </a:lnSpc>
              <a:spcBef>
                <a:spcPct val="0"/>
              </a:spcBef>
            </a:pPr>
            <a:r>
              <a:rPr lang="en-US" b="true" sz="5379">
                <a:solidFill>
                  <a:srgbClr val="197237"/>
                </a:solidFill>
                <a:latin typeface="Inter Bold"/>
                <a:ea typeface="Inter Bold"/>
                <a:cs typeface="Inter Bold"/>
                <a:sym typeface="Inter Bold"/>
              </a:rPr>
              <a:t>Cas d’utilisation</a:t>
            </a:r>
          </a:p>
        </p:txBody>
      </p:sp>
      <p:sp>
        <p:nvSpPr>
          <p:cNvPr name="TextBox 9" id="9"/>
          <p:cNvSpPr txBox="true"/>
          <p:nvPr/>
        </p:nvSpPr>
        <p:spPr>
          <a:xfrm rot="0">
            <a:off x="2666639" y="3682751"/>
            <a:ext cx="6286105" cy="3497032"/>
          </a:xfrm>
          <a:prstGeom prst="rect">
            <a:avLst/>
          </a:prstGeom>
        </p:spPr>
        <p:txBody>
          <a:bodyPr anchor="t" rtlCol="false" tIns="0" lIns="0" bIns="0" rIns="0">
            <a:spAutoFit/>
          </a:bodyPr>
          <a:lstStyle/>
          <a:p>
            <a:pPr algn="just">
              <a:lnSpc>
                <a:spcPts val="3075"/>
              </a:lnSpc>
            </a:pPr>
            <a:r>
              <a:rPr lang="en-US" sz="2196">
                <a:solidFill>
                  <a:srgbClr val="01070A"/>
                </a:solidFill>
                <a:latin typeface="Inter"/>
                <a:ea typeface="Inter"/>
                <a:cs typeface="Inter"/>
                <a:sym typeface="Inter"/>
              </a:rPr>
              <a:t>Afin maté</a:t>
            </a:r>
            <a:r>
              <a:rPr lang="en-US" sz="2196" strike="noStrike" u="none">
                <a:solidFill>
                  <a:srgbClr val="01070A"/>
                </a:solidFill>
                <a:latin typeface="Inter"/>
                <a:ea typeface="Inter"/>
                <a:cs typeface="Inter"/>
                <a:sym typeface="Inter"/>
              </a:rPr>
              <a:t>rialiser les besoins, nous avons réalisé un diagramme de cas d’utilisation .</a:t>
            </a:r>
          </a:p>
          <a:p>
            <a:pPr algn="just">
              <a:lnSpc>
                <a:spcPts val="3075"/>
              </a:lnSpc>
            </a:pPr>
          </a:p>
          <a:p>
            <a:pPr algn="just">
              <a:lnSpc>
                <a:spcPts val="3075"/>
              </a:lnSpc>
            </a:pPr>
            <a:r>
              <a:rPr lang="en-US" sz="2196" strike="noStrike" u="none">
                <a:solidFill>
                  <a:srgbClr val="01070A"/>
                </a:solidFill>
                <a:latin typeface="Inter"/>
                <a:ea typeface="Inter"/>
                <a:cs typeface="Inter"/>
                <a:sym typeface="Inter"/>
              </a:rPr>
              <a:t>Cet outil permet de répertorier précisement les interactions entre les différentes acteurs ; </a:t>
            </a:r>
            <a:r>
              <a:rPr lang="en-US" b="true" sz="2196" strike="noStrike" u="none">
                <a:solidFill>
                  <a:srgbClr val="154428"/>
                </a:solidFill>
                <a:latin typeface="Inter Bold"/>
                <a:ea typeface="Inter Bold"/>
                <a:cs typeface="Inter Bold"/>
                <a:sym typeface="Inter Bold"/>
              </a:rPr>
              <a:t>visiteurs</a:t>
            </a:r>
            <a:r>
              <a:rPr lang="en-US" sz="2196" strike="noStrike" u="none">
                <a:solidFill>
                  <a:srgbClr val="01070A"/>
                </a:solidFill>
                <a:latin typeface="Inter"/>
                <a:ea typeface="Inter"/>
                <a:cs typeface="Inter"/>
                <a:sym typeface="Inter"/>
              </a:rPr>
              <a:t>, </a:t>
            </a:r>
            <a:r>
              <a:rPr lang="en-US" b="true" sz="2196" strike="noStrike" u="none">
                <a:solidFill>
                  <a:srgbClr val="154428"/>
                </a:solidFill>
                <a:latin typeface="Inter Bold"/>
                <a:ea typeface="Inter Bold"/>
                <a:cs typeface="Inter Bold"/>
                <a:sym typeface="Inter Bold"/>
              </a:rPr>
              <a:t>lecteurs</a:t>
            </a:r>
            <a:r>
              <a:rPr lang="en-US" sz="2196" strike="noStrike" u="none">
                <a:solidFill>
                  <a:srgbClr val="01070A"/>
                </a:solidFill>
                <a:latin typeface="Inter"/>
                <a:ea typeface="Inter"/>
                <a:cs typeface="Inter"/>
                <a:sym typeface="Inter"/>
              </a:rPr>
              <a:t>, </a:t>
            </a:r>
            <a:r>
              <a:rPr lang="en-US" b="true" sz="2196" strike="noStrike" u="none">
                <a:solidFill>
                  <a:srgbClr val="154428"/>
                </a:solidFill>
                <a:latin typeface="Inter Bold"/>
                <a:ea typeface="Inter Bold"/>
                <a:cs typeface="Inter Bold"/>
                <a:sym typeface="Inter Bold"/>
              </a:rPr>
              <a:t>bibliothécaires</a:t>
            </a:r>
            <a:r>
              <a:rPr lang="en-US" b="true" sz="2196" strike="noStrike" u="none">
                <a:solidFill>
                  <a:srgbClr val="01070A"/>
                </a:solidFill>
                <a:latin typeface="Inter Bold"/>
                <a:ea typeface="Inter Bold"/>
                <a:cs typeface="Inter Bold"/>
                <a:sym typeface="Inter Bold"/>
              </a:rPr>
              <a:t> </a:t>
            </a:r>
            <a:r>
              <a:rPr lang="en-US" sz="2196" strike="noStrike" u="none">
                <a:solidFill>
                  <a:srgbClr val="01070A"/>
                </a:solidFill>
                <a:latin typeface="Inter"/>
                <a:ea typeface="Inter"/>
                <a:cs typeface="Inter"/>
                <a:sym typeface="Inter"/>
              </a:rPr>
              <a:t>et </a:t>
            </a:r>
            <a:r>
              <a:rPr lang="en-US" b="true" sz="2196" strike="noStrike" u="none">
                <a:solidFill>
                  <a:srgbClr val="154428"/>
                </a:solidFill>
                <a:latin typeface="Inter Bold"/>
                <a:ea typeface="Inter Bold"/>
                <a:cs typeface="Inter Bold"/>
                <a:sym typeface="Inter Bold"/>
              </a:rPr>
              <a:t>administrateurs</a:t>
            </a:r>
            <a:r>
              <a:rPr lang="en-US" b="true" sz="2196" strike="noStrike" u="none">
                <a:solidFill>
                  <a:srgbClr val="01070A"/>
                </a:solidFill>
                <a:latin typeface="Inter Bold"/>
                <a:ea typeface="Inter Bold"/>
                <a:cs typeface="Inter Bold"/>
                <a:sym typeface="Inter Bold"/>
              </a:rPr>
              <a:t> </a:t>
            </a:r>
            <a:r>
              <a:rPr lang="en-US" sz="2196" strike="noStrike" u="none">
                <a:solidFill>
                  <a:srgbClr val="01070A"/>
                </a:solidFill>
                <a:latin typeface="Inter"/>
                <a:ea typeface="Inter"/>
                <a:cs typeface="Inter"/>
                <a:sym typeface="Inter"/>
              </a:rPr>
              <a:t>et les fonctionnalités clés de la plateformes.</a:t>
            </a:r>
          </a:p>
          <a:p>
            <a:pPr algn="just">
              <a:lnSpc>
                <a:spcPts val="3075"/>
              </a:lnSpc>
            </a:pPr>
          </a:p>
        </p:txBody>
      </p:sp>
      <p:sp>
        <p:nvSpPr>
          <p:cNvPr name="Freeform 10" id="10"/>
          <p:cNvSpPr/>
          <p:nvPr/>
        </p:nvSpPr>
        <p:spPr>
          <a:xfrm flipH="false" flipV="false" rot="0">
            <a:off x="13414534" y="0"/>
            <a:ext cx="4873466" cy="10287000"/>
          </a:xfrm>
          <a:custGeom>
            <a:avLst/>
            <a:gdLst/>
            <a:ahLst/>
            <a:cxnLst/>
            <a:rect r="r" b="b" t="t" l="l"/>
            <a:pathLst>
              <a:path h="10287000" w="4873466">
                <a:moveTo>
                  <a:pt x="0" y="0"/>
                </a:moveTo>
                <a:lnTo>
                  <a:pt x="4873466" y="0"/>
                </a:lnTo>
                <a:lnTo>
                  <a:pt x="4873466" y="10287000"/>
                </a:lnTo>
                <a:lnTo>
                  <a:pt x="0" y="10287000"/>
                </a:lnTo>
                <a:lnTo>
                  <a:pt x="0" y="0"/>
                </a:lnTo>
                <a:close/>
              </a:path>
            </a:pathLst>
          </a:custGeom>
          <a:blipFill>
            <a:blip r:embed="rId7"/>
            <a:stretch>
              <a:fillRect l="0" t="0" r="0" b="0"/>
            </a:stretch>
          </a:blipFill>
        </p:spPr>
      </p:sp>
      <p:grpSp>
        <p:nvGrpSpPr>
          <p:cNvPr name="Group 11" id="11"/>
          <p:cNvGrpSpPr/>
          <p:nvPr/>
        </p:nvGrpSpPr>
        <p:grpSpPr>
          <a:xfrm rot="0">
            <a:off x="13035228" y="916425"/>
            <a:ext cx="379306" cy="37930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154428"/>
            </a:solidFill>
          </p:spPr>
        </p:sp>
        <p:sp>
          <p:nvSpPr>
            <p:cNvPr name="TextBox 13" id="13"/>
            <p:cNvSpPr txBox="true"/>
            <p:nvPr/>
          </p:nvSpPr>
          <p:spPr>
            <a:xfrm>
              <a:off x="0" y="165100"/>
              <a:ext cx="711200" cy="44450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3035228" y="2675820"/>
            <a:ext cx="379306" cy="379306"/>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154428"/>
            </a:solidFill>
          </p:spPr>
        </p:sp>
        <p:sp>
          <p:nvSpPr>
            <p:cNvPr name="TextBox 16" id="16"/>
            <p:cNvSpPr txBox="true"/>
            <p:nvPr/>
          </p:nvSpPr>
          <p:spPr>
            <a:xfrm>
              <a:off x="0" y="165100"/>
              <a:ext cx="711200" cy="44450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2997975" y="6092398"/>
            <a:ext cx="379306" cy="37930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154428"/>
            </a:solidFill>
          </p:spPr>
        </p:sp>
        <p:sp>
          <p:nvSpPr>
            <p:cNvPr name="TextBox 19" id="19"/>
            <p:cNvSpPr txBox="true"/>
            <p:nvPr/>
          </p:nvSpPr>
          <p:spPr>
            <a:xfrm>
              <a:off x="0" y="165100"/>
              <a:ext cx="711200" cy="444500"/>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12997975" y="9068647"/>
            <a:ext cx="379306" cy="379306"/>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154428"/>
            </a:solidFill>
          </p:spPr>
        </p:sp>
        <p:sp>
          <p:nvSpPr>
            <p:cNvPr name="TextBox 22" id="22"/>
            <p:cNvSpPr txBox="true"/>
            <p:nvPr/>
          </p:nvSpPr>
          <p:spPr>
            <a:xfrm>
              <a:off x="0" y="165100"/>
              <a:ext cx="711200" cy="444500"/>
            </a:xfrm>
            <a:prstGeom prst="rect">
              <a:avLst/>
            </a:prstGeom>
          </p:spPr>
          <p:txBody>
            <a:bodyPr anchor="ctr" rtlCol="false" tIns="50800" lIns="50800" bIns="50800" rIns="50800"/>
            <a:lstStyle/>
            <a:p>
              <a:pPr algn="ctr">
                <a:lnSpc>
                  <a:spcPts val="2659"/>
                </a:lnSpc>
              </a:pPr>
            </a:p>
          </p:txBody>
        </p:sp>
      </p:grpSp>
      <p:sp>
        <p:nvSpPr>
          <p:cNvPr name="Freeform 23" id="23"/>
          <p:cNvSpPr/>
          <p:nvPr/>
        </p:nvSpPr>
        <p:spPr>
          <a:xfrm flipH="false" flipV="false" rot="0">
            <a:off x="251672" y="235942"/>
            <a:ext cx="1360965" cy="1360965"/>
          </a:xfrm>
          <a:custGeom>
            <a:avLst/>
            <a:gdLst/>
            <a:ahLst/>
            <a:cxnLst/>
            <a:rect r="r" b="b" t="t" l="l"/>
            <a:pathLst>
              <a:path h="1360965" w="1360965">
                <a:moveTo>
                  <a:pt x="0" y="0"/>
                </a:moveTo>
                <a:lnTo>
                  <a:pt x="1360965" y="0"/>
                </a:lnTo>
                <a:lnTo>
                  <a:pt x="1360965" y="1360966"/>
                </a:lnTo>
                <a:lnTo>
                  <a:pt x="0" y="1360966"/>
                </a:lnTo>
                <a:lnTo>
                  <a:pt x="0" y="0"/>
                </a:lnTo>
                <a:close/>
              </a:path>
            </a:pathLst>
          </a:custGeom>
          <a:blipFill>
            <a:blip r:embed="rId8"/>
            <a:stretch>
              <a:fillRect l="0" t="0" r="0" b="0"/>
            </a:stretch>
          </a:blipFill>
        </p:spPr>
      </p:sp>
    </p:spTree>
  </p:cSld>
  <p:clrMapOvr>
    <a:masterClrMapping/>
  </p:clrMapOvr>
  <p:transition spd="fast">
    <p:push dir="l"/>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sp>
        <p:nvSpPr>
          <p:cNvPr name="Freeform 3" id="3"/>
          <p:cNvSpPr/>
          <p:nvPr/>
        </p:nvSpPr>
        <p:spPr>
          <a:xfrm flipH="false" flipV="false" rot="0">
            <a:off x="14957345" y="6744287"/>
            <a:ext cx="6266893" cy="4307065"/>
          </a:xfrm>
          <a:custGeom>
            <a:avLst/>
            <a:gdLst/>
            <a:ahLst/>
            <a:cxnLst/>
            <a:rect r="r" b="b" t="t" l="l"/>
            <a:pathLst>
              <a:path h="4307065" w="6266893">
                <a:moveTo>
                  <a:pt x="0" y="0"/>
                </a:moveTo>
                <a:lnTo>
                  <a:pt x="6266894" y="0"/>
                </a:lnTo>
                <a:lnTo>
                  <a:pt x="6266894" y="4307064"/>
                </a:lnTo>
                <a:lnTo>
                  <a:pt x="0" y="4307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2023959" y="6897975"/>
            <a:ext cx="4793068" cy="3485868"/>
          </a:xfrm>
          <a:custGeom>
            <a:avLst/>
            <a:gdLst/>
            <a:ahLst/>
            <a:cxnLst/>
            <a:rect r="r" b="b" t="t" l="l"/>
            <a:pathLst>
              <a:path h="3485868" w="4793068">
                <a:moveTo>
                  <a:pt x="0" y="0"/>
                </a:moveTo>
                <a:lnTo>
                  <a:pt x="4793068" y="0"/>
                </a:lnTo>
                <a:lnTo>
                  <a:pt x="4793068" y="3485868"/>
                </a:lnTo>
                <a:lnTo>
                  <a:pt x="0" y="348586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1920828" y="416359"/>
            <a:ext cx="9747346" cy="895356"/>
          </a:xfrm>
          <a:prstGeom prst="rect">
            <a:avLst/>
          </a:prstGeom>
        </p:spPr>
        <p:txBody>
          <a:bodyPr anchor="t" rtlCol="false" tIns="0" lIns="0" bIns="0" rIns="0">
            <a:spAutoFit/>
          </a:bodyPr>
          <a:lstStyle/>
          <a:p>
            <a:pPr algn="ctr">
              <a:lnSpc>
                <a:spcPts val="7349"/>
              </a:lnSpc>
            </a:pPr>
            <a:r>
              <a:rPr lang="en-US" b="true" sz="5249">
                <a:solidFill>
                  <a:srgbClr val="197237"/>
                </a:solidFill>
                <a:latin typeface="Inter Bold"/>
                <a:ea typeface="Inter Bold"/>
                <a:cs typeface="Inter Bold"/>
                <a:sym typeface="Inter Bold"/>
              </a:rPr>
              <a:t>Les Users Stories</a:t>
            </a:r>
          </a:p>
        </p:txBody>
      </p:sp>
      <p:sp>
        <p:nvSpPr>
          <p:cNvPr name="Freeform 6" id="6"/>
          <p:cNvSpPr/>
          <p:nvPr/>
        </p:nvSpPr>
        <p:spPr>
          <a:xfrm flipH="false" flipV="false" rot="0">
            <a:off x="251672" y="235942"/>
            <a:ext cx="1713544" cy="1360965"/>
          </a:xfrm>
          <a:custGeom>
            <a:avLst/>
            <a:gdLst/>
            <a:ahLst/>
            <a:cxnLst/>
            <a:rect r="r" b="b" t="t" l="l"/>
            <a:pathLst>
              <a:path h="1360965" w="1713544">
                <a:moveTo>
                  <a:pt x="0" y="0"/>
                </a:moveTo>
                <a:lnTo>
                  <a:pt x="1713544" y="0"/>
                </a:lnTo>
                <a:lnTo>
                  <a:pt x="1713544" y="1360966"/>
                </a:lnTo>
                <a:lnTo>
                  <a:pt x="0" y="1360966"/>
                </a:lnTo>
                <a:lnTo>
                  <a:pt x="0" y="0"/>
                </a:lnTo>
                <a:close/>
              </a:path>
            </a:pathLst>
          </a:custGeom>
          <a:blipFill>
            <a:blip r:embed="rId7"/>
            <a:stretch>
              <a:fillRect l="0" t="-12953" r="0" b="-12953"/>
            </a:stretch>
          </a:blipFill>
        </p:spPr>
      </p:sp>
      <p:sp>
        <p:nvSpPr>
          <p:cNvPr name="Freeform 7" id="7"/>
          <p:cNvSpPr/>
          <p:nvPr/>
        </p:nvSpPr>
        <p:spPr>
          <a:xfrm flipH="false" flipV="false" rot="0">
            <a:off x="199584" y="7539789"/>
            <a:ext cx="3442489" cy="2273644"/>
          </a:xfrm>
          <a:custGeom>
            <a:avLst/>
            <a:gdLst/>
            <a:ahLst/>
            <a:cxnLst/>
            <a:rect r="r" b="b" t="t" l="l"/>
            <a:pathLst>
              <a:path h="2273644" w="3442489">
                <a:moveTo>
                  <a:pt x="0" y="0"/>
                </a:moveTo>
                <a:lnTo>
                  <a:pt x="3442489" y="0"/>
                </a:lnTo>
                <a:lnTo>
                  <a:pt x="3442489" y="2273644"/>
                </a:lnTo>
                <a:lnTo>
                  <a:pt x="0" y="2273644"/>
                </a:lnTo>
                <a:lnTo>
                  <a:pt x="0" y="0"/>
                </a:lnTo>
                <a:close/>
              </a:path>
            </a:pathLst>
          </a:custGeom>
          <a:blipFill>
            <a:blip r:embed="rId8"/>
            <a:stretch>
              <a:fillRect l="0" t="0" r="0" b="0"/>
            </a:stretch>
          </a:blipFill>
        </p:spPr>
      </p:sp>
      <p:sp>
        <p:nvSpPr>
          <p:cNvPr name="Freeform 8" id="8"/>
          <p:cNvSpPr/>
          <p:nvPr/>
        </p:nvSpPr>
        <p:spPr>
          <a:xfrm flipH="false" flipV="false" rot="0">
            <a:off x="199584" y="5637905"/>
            <a:ext cx="3442489" cy="1673284"/>
          </a:xfrm>
          <a:custGeom>
            <a:avLst/>
            <a:gdLst/>
            <a:ahLst/>
            <a:cxnLst/>
            <a:rect r="r" b="b" t="t" l="l"/>
            <a:pathLst>
              <a:path h="1673284" w="3442489">
                <a:moveTo>
                  <a:pt x="0" y="0"/>
                </a:moveTo>
                <a:lnTo>
                  <a:pt x="3442489" y="0"/>
                </a:lnTo>
                <a:lnTo>
                  <a:pt x="3442489" y="1673284"/>
                </a:lnTo>
                <a:lnTo>
                  <a:pt x="0" y="1673284"/>
                </a:lnTo>
                <a:lnTo>
                  <a:pt x="0" y="0"/>
                </a:lnTo>
                <a:close/>
              </a:path>
            </a:pathLst>
          </a:custGeom>
          <a:blipFill>
            <a:blip r:embed="rId9"/>
            <a:stretch>
              <a:fillRect l="0" t="0" r="0" b="0"/>
            </a:stretch>
          </a:blipFill>
        </p:spPr>
      </p:sp>
      <p:sp>
        <p:nvSpPr>
          <p:cNvPr name="Freeform 9" id="9"/>
          <p:cNvSpPr/>
          <p:nvPr/>
        </p:nvSpPr>
        <p:spPr>
          <a:xfrm flipH="false" flipV="false" rot="0">
            <a:off x="199584" y="4034441"/>
            <a:ext cx="3442489" cy="1374864"/>
          </a:xfrm>
          <a:custGeom>
            <a:avLst/>
            <a:gdLst/>
            <a:ahLst/>
            <a:cxnLst/>
            <a:rect r="r" b="b" t="t" l="l"/>
            <a:pathLst>
              <a:path h="1374864" w="3442489">
                <a:moveTo>
                  <a:pt x="0" y="0"/>
                </a:moveTo>
                <a:lnTo>
                  <a:pt x="3442489" y="0"/>
                </a:lnTo>
                <a:lnTo>
                  <a:pt x="3442489" y="1374864"/>
                </a:lnTo>
                <a:lnTo>
                  <a:pt x="0" y="1374864"/>
                </a:lnTo>
                <a:lnTo>
                  <a:pt x="0" y="0"/>
                </a:lnTo>
                <a:close/>
              </a:path>
            </a:pathLst>
          </a:custGeom>
          <a:blipFill>
            <a:blip r:embed="rId10"/>
            <a:stretch>
              <a:fillRect l="0" t="0" r="0" b="0"/>
            </a:stretch>
          </a:blipFill>
        </p:spPr>
      </p:sp>
      <p:sp>
        <p:nvSpPr>
          <p:cNvPr name="Freeform 10" id="10"/>
          <p:cNvSpPr/>
          <p:nvPr/>
        </p:nvSpPr>
        <p:spPr>
          <a:xfrm flipH="false" flipV="false" rot="0">
            <a:off x="199584" y="1940385"/>
            <a:ext cx="3442489" cy="1868017"/>
          </a:xfrm>
          <a:custGeom>
            <a:avLst/>
            <a:gdLst/>
            <a:ahLst/>
            <a:cxnLst/>
            <a:rect r="r" b="b" t="t" l="l"/>
            <a:pathLst>
              <a:path h="1868017" w="3442489">
                <a:moveTo>
                  <a:pt x="0" y="0"/>
                </a:moveTo>
                <a:lnTo>
                  <a:pt x="3442489" y="0"/>
                </a:lnTo>
                <a:lnTo>
                  <a:pt x="3442489" y="1868017"/>
                </a:lnTo>
                <a:lnTo>
                  <a:pt x="0" y="1868017"/>
                </a:lnTo>
                <a:lnTo>
                  <a:pt x="0" y="0"/>
                </a:lnTo>
                <a:close/>
              </a:path>
            </a:pathLst>
          </a:custGeom>
          <a:blipFill>
            <a:blip r:embed="rId11"/>
            <a:stretch>
              <a:fillRect l="0" t="0" r="0" b="0"/>
            </a:stretch>
          </a:blipFill>
        </p:spPr>
      </p:sp>
      <p:grpSp>
        <p:nvGrpSpPr>
          <p:cNvPr name="Group 11" id="11"/>
          <p:cNvGrpSpPr/>
          <p:nvPr/>
        </p:nvGrpSpPr>
        <p:grpSpPr>
          <a:xfrm rot="0">
            <a:off x="4033445" y="2684741"/>
            <a:ext cx="379306" cy="37930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154428"/>
            </a:solidFill>
          </p:spPr>
        </p:sp>
        <p:sp>
          <p:nvSpPr>
            <p:cNvPr name="TextBox 13" id="13"/>
            <p:cNvSpPr txBox="true"/>
            <p:nvPr/>
          </p:nvSpPr>
          <p:spPr>
            <a:xfrm>
              <a:off x="0" y="165100"/>
              <a:ext cx="711200" cy="44450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4033445" y="4764194"/>
            <a:ext cx="379306" cy="379306"/>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154428"/>
            </a:solidFill>
          </p:spPr>
        </p:sp>
        <p:sp>
          <p:nvSpPr>
            <p:cNvPr name="TextBox 16" id="16"/>
            <p:cNvSpPr txBox="true"/>
            <p:nvPr/>
          </p:nvSpPr>
          <p:spPr>
            <a:xfrm>
              <a:off x="0" y="165100"/>
              <a:ext cx="711200" cy="44450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4033445" y="6380974"/>
            <a:ext cx="379306" cy="37930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154428"/>
            </a:solidFill>
          </p:spPr>
        </p:sp>
        <p:sp>
          <p:nvSpPr>
            <p:cNvPr name="TextBox 19" id="19"/>
            <p:cNvSpPr txBox="true"/>
            <p:nvPr/>
          </p:nvSpPr>
          <p:spPr>
            <a:xfrm>
              <a:off x="0" y="165100"/>
              <a:ext cx="711200" cy="444500"/>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4033445" y="8486958"/>
            <a:ext cx="379306" cy="379306"/>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154428"/>
            </a:solidFill>
          </p:spPr>
        </p:sp>
        <p:sp>
          <p:nvSpPr>
            <p:cNvPr name="TextBox 22" id="22"/>
            <p:cNvSpPr txBox="true"/>
            <p:nvPr/>
          </p:nvSpPr>
          <p:spPr>
            <a:xfrm>
              <a:off x="0" y="165100"/>
              <a:ext cx="711200" cy="444500"/>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4979376" y="443708"/>
            <a:ext cx="13158350" cy="7628279"/>
            <a:chOff x="0" y="0"/>
            <a:chExt cx="17544467" cy="10171039"/>
          </a:xfrm>
        </p:grpSpPr>
        <p:sp>
          <p:nvSpPr>
            <p:cNvPr name="Freeform 24" id="24"/>
            <p:cNvSpPr/>
            <p:nvPr/>
          </p:nvSpPr>
          <p:spPr>
            <a:xfrm flipH="false" flipV="false" rot="0">
              <a:off x="0" y="2975904"/>
              <a:ext cx="15068345" cy="7195135"/>
            </a:xfrm>
            <a:custGeom>
              <a:avLst/>
              <a:gdLst/>
              <a:ahLst/>
              <a:cxnLst/>
              <a:rect r="r" b="b" t="t" l="l"/>
              <a:pathLst>
                <a:path h="7195135" w="15068345">
                  <a:moveTo>
                    <a:pt x="0" y="0"/>
                  </a:moveTo>
                  <a:lnTo>
                    <a:pt x="15068345" y="0"/>
                  </a:lnTo>
                  <a:lnTo>
                    <a:pt x="15068345" y="7195135"/>
                  </a:lnTo>
                  <a:lnTo>
                    <a:pt x="0" y="7195135"/>
                  </a:lnTo>
                  <a:lnTo>
                    <a:pt x="0" y="0"/>
                  </a:lnTo>
                  <a:close/>
                </a:path>
              </a:pathLst>
            </a:custGeom>
            <a:blipFill>
              <a:blip r:embed="rId12"/>
              <a:stretch>
                <a:fillRect l="0" t="0" r="0" b="0"/>
              </a:stretch>
            </a:blipFill>
          </p:spPr>
        </p:sp>
        <p:grpSp>
          <p:nvGrpSpPr>
            <p:cNvPr name="Group 25" id="25"/>
            <p:cNvGrpSpPr/>
            <p:nvPr/>
          </p:nvGrpSpPr>
          <p:grpSpPr>
            <a:xfrm rot="0">
              <a:off x="6809089" y="5539841"/>
              <a:ext cx="2024955" cy="820354"/>
              <a:chOff x="0" y="0"/>
              <a:chExt cx="399991" cy="162045"/>
            </a:xfrm>
          </p:grpSpPr>
          <p:sp>
            <p:nvSpPr>
              <p:cNvPr name="Freeform 26" id="26"/>
              <p:cNvSpPr/>
              <p:nvPr/>
            </p:nvSpPr>
            <p:spPr>
              <a:xfrm flipH="false" flipV="false" rot="0">
                <a:off x="0" y="0"/>
                <a:ext cx="399991" cy="162045"/>
              </a:xfrm>
              <a:custGeom>
                <a:avLst/>
                <a:gdLst/>
                <a:ahLst/>
                <a:cxnLst/>
                <a:rect r="r" b="b" t="t" l="l"/>
                <a:pathLst>
                  <a:path h="162045" w="399991">
                    <a:moveTo>
                      <a:pt x="35684" y="0"/>
                    </a:moveTo>
                    <a:lnTo>
                      <a:pt x="364307" y="0"/>
                    </a:lnTo>
                    <a:cubicBezTo>
                      <a:pt x="373771" y="0"/>
                      <a:pt x="382848" y="3760"/>
                      <a:pt x="389540" y="10452"/>
                    </a:cubicBezTo>
                    <a:cubicBezTo>
                      <a:pt x="396232" y="17144"/>
                      <a:pt x="399991" y="26220"/>
                      <a:pt x="399991" y="35684"/>
                    </a:cubicBezTo>
                    <a:lnTo>
                      <a:pt x="399991" y="126362"/>
                    </a:lnTo>
                    <a:cubicBezTo>
                      <a:pt x="399991" y="135826"/>
                      <a:pt x="396232" y="144902"/>
                      <a:pt x="389540" y="151594"/>
                    </a:cubicBezTo>
                    <a:cubicBezTo>
                      <a:pt x="382848" y="158286"/>
                      <a:pt x="373771" y="162045"/>
                      <a:pt x="364307" y="162045"/>
                    </a:cubicBezTo>
                    <a:lnTo>
                      <a:pt x="35684" y="162045"/>
                    </a:lnTo>
                    <a:cubicBezTo>
                      <a:pt x="26220" y="162045"/>
                      <a:pt x="17144" y="158286"/>
                      <a:pt x="10452" y="151594"/>
                    </a:cubicBezTo>
                    <a:cubicBezTo>
                      <a:pt x="3760" y="144902"/>
                      <a:pt x="0" y="135826"/>
                      <a:pt x="0" y="126362"/>
                    </a:cubicBezTo>
                    <a:lnTo>
                      <a:pt x="0" y="35684"/>
                    </a:lnTo>
                    <a:cubicBezTo>
                      <a:pt x="0" y="26220"/>
                      <a:pt x="3760" y="17144"/>
                      <a:pt x="10452" y="10452"/>
                    </a:cubicBezTo>
                    <a:cubicBezTo>
                      <a:pt x="17144" y="3760"/>
                      <a:pt x="26220" y="0"/>
                      <a:pt x="35684" y="0"/>
                    </a:cubicBezTo>
                    <a:close/>
                  </a:path>
                </a:pathLst>
              </a:custGeom>
              <a:ln w="38100" cap="sq">
                <a:solidFill>
                  <a:srgbClr val="154428"/>
                </a:solidFill>
                <a:prstDash val="solid"/>
                <a:miter/>
              </a:ln>
            </p:spPr>
          </p:sp>
          <p:sp>
            <p:nvSpPr>
              <p:cNvPr name="TextBox 27" id="27"/>
              <p:cNvSpPr txBox="true"/>
              <p:nvPr/>
            </p:nvSpPr>
            <p:spPr>
              <a:xfrm>
                <a:off x="0" y="-38100"/>
                <a:ext cx="399991" cy="200145"/>
              </a:xfrm>
              <a:prstGeom prst="rect">
                <a:avLst/>
              </a:prstGeom>
            </p:spPr>
            <p:txBody>
              <a:bodyPr anchor="ctr" rtlCol="false" tIns="50800" lIns="50800" bIns="50800" rIns="50800"/>
              <a:lstStyle/>
              <a:p>
                <a:pPr algn="ctr">
                  <a:lnSpc>
                    <a:spcPts val="2659"/>
                  </a:lnSpc>
                  <a:spcBef>
                    <a:spcPct val="0"/>
                  </a:spcBef>
                </a:pPr>
              </a:p>
            </p:txBody>
          </p:sp>
        </p:grpSp>
        <p:sp>
          <p:nvSpPr>
            <p:cNvPr name="AutoShape 28" id="28"/>
            <p:cNvSpPr/>
            <p:nvPr/>
          </p:nvSpPr>
          <p:spPr>
            <a:xfrm flipV="true">
              <a:off x="8834044" y="2122543"/>
              <a:ext cx="1735304" cy="3827476"/>
            </a:xfrm>
            <a:prstGeom prst="line">
              <a:avLst/>
            </a:prstGeom>
            <a:ln cap="flat" w="50800">
              <a:solidFill>
                <a:srgbClr val="154428"/>
              </a:solidFill>
              <a:prstDash val="solid"/>
              <a:headEnd type="none" len="sm" w="sm"/>
              <a:tailEnd type="none" len="sm" w="sm"/>
            </a:ln>
          </p:spPr>
        </p:sp>
        <p:sp>
          <p:nvSpPr>
            <p:cNvPr name="Freeform 29" id="29"/>
            <p:cNvSpPr/>
            <p:nvPr/>
          </p:nvSpPr>
          <p:spPr>
            <a:xfrm flipH="false" flipV="false" rot="0">
              <a:off x="10569348" y="0"/>
              <a:ext cx="6975119" cy="8193376"/>
            </a:xfrm>
            <a:custGeom>
              <a:avLst/>
              <a:gdLst/>
              <a:ahLst/>
              <a:cxnLst/>
              <a:rect r="r" b="b" t="t" l="l"/>
              <a:pathLst>
                <a:path h="8193376" w="6975119">
                  <a:moveTo>
                    <a:pt x="0" y="0"/>
                  </a:moveTo>
                  <a:lnTo>
                    <a:pt x="6975119" y="0"/>
                  </a:lnTo>
                  <a:lnTo>
                    <a:pt x="6975119" y="8193376"/>
                  </a:lnTo>
                  <a:lnTo>
                    <a:pt x="0" y="8193376"/>
                  </a:lnTo>
                  <a:lnTo>
                    <a:pt x="0" y="0"/>
                  </a:lnTo>
                  <a:close/>
                </a:path>
              </a:pathLst>
            </a:custGeom>
            <a:blipFill>
              <a:blip r:embed="rId13"/>
              <a:stretch>
                <a:fillRect l="0" t="0" r="0" b="0"/>
              </a:stretch>
            </a:blipFill>
            <a:ln w="38100" cap="rnd">
              <a:solidFill>
                <a:srgbClr val="154428"/>
              </a:solidFill>
              <a:prstDash val="solid"/>
              <a:round/>
            </a:ln>
          </p:spPr>
        </p:sp>
      </p:grpSp>
      <p:grpSp>
        <p:nvGrpSpPr>
          <p:cNvPr name="Group 30" id="30"/>
          <p:cNvGrpSpPr/>
          <p:nvPr/>
        </p:nvGrpSpPr>
        <p:grpSpPr>
          <a:xfrm rot="0">
            <a:off x="4979376" y="8386695"/>
            <a:ext cx="11450324" cy="1740157"/>
            <a:chOff x="0" y="0"/>
            <a:chExt cx="3510524" cy="533510"/>
          </a:xfrm>
        </p:grpSpPr>
        <p:sp>
          <p:nvSpPr>
            <p:cNvPr name="Freeform 31" id="31"/>
            <p:cNvSpPr/>
            <p:nvPr/>
          </p:nvSpPr>
          <p:spPr>
            <a:xfrm flipH="false" flipV="false" rot="0">
              <a:off x="0" y="0"/>
              <a:ext cx="3510524" cy="533510"/>
            </a:xfrm>
            <a:custGeom>
              <a:avLst/>
              <a:gdLst/>
              <a:ahLst/>
              <a:cxnLst/>
              <a:rect r="r" b="b" t="t" l="l"/>
              <a:pathLst>
                <a:path h="533510" w="3510524">
                  <a:moveTo>
                    <a:pt x="7437" y="0"/>
                  </a:moveTo>
                  <a:lnTo>
                    <a:pt x="3503087" y="0"/>
                  </a:lnTo>
                  <a:cubicBezTo>
                    <a:pt x="3507194" y="0"/>
                    <a:pt x="3510524" y="3330"/>
                    <a:pt x="3510524" y="7437"/>
                  </a:cubicBezTo>
                  <a:lnTo>
                    <a:pt x="3510524" y="526073"/>
                  </a:lnTo>
                  <a:cubicBezTo>
                    <a:pt x="3510524" y="528045"/>
                    <a:pt x="3509740" y="529937"/>
                    <a:pt x="3508346" y="531332"/>
                  </a:cubicBezTo>
                  <a:cubicBezTo>
                    <a:pt x="3506951" y="532727"/>
                    <a:pt x="3505059" y="533510"/>
                    <a:pt x="3503087" y="533510"/>
                  </a:cubicBezTo>
                  <a:lnTo>
                    <a:pt x="7437" y="533510"/>
                  </a:lnTo>
                  <a:cubicBezTo>
                    <a:pt x="3330" y="533510"/>
                    <a:pt x="0" y="530180"/>
                    <a:pt x="0" y="526073"/>
                  </a:cubicBezTo>
                  <a:lnTo>
                    <a:pt x="0" y="7437"/>
                  </a:lnTo>
                  <a:cubicBezTo>
                    <a:pt x="0" y="5465"/>
                    <a:pt x="784" y="3573"/>
                    <a:pt x="2178" y="2178"/>
                  </a:cubicBezTo>
                  <a:cubicBezTo>
                    <a:pt x="3573" y="784"/>
                    <a:pt x="5465" y="0"/>
                    <a:pt x="7437" y="0"/>
                  </a:cubicBezTo>
                  <a:close/>
                </a:path>
              </a:pathLst>
            </a:custGeom>
            <a:solidFill>
              <a:srgbClr val="FFFFFF"/>
            </a:solidFill>
            <a:ln w="38100" cap="sq">
              <a:solidFill>
                <a:srgbClr val="154428"/>
              </a:solidFill>
              <a:prstDash val="solid"/>
              <a:miter/>
            </a:ln>
          </p:spPr>
        </p:sp>
        <p:sp>
          <p:nvSpPr>
            <p:cNvPr name="TextBox 32" id="32"/>
            <p:cNvSpPr txBox="true"/>
            <p:nvPr/>
          </p:nvSpPr>
          <p:spPr>
            <a:xfrm>
              <a:off x="0" y="-47625"/>
              <a:ext cx="3510524" cy="581135"/>
            </a:xfrm>
            <a:prstGeom prst="rect">
              <a:avLst/>
            </a:prstGeom>
          </p:spPr>
          <p:txBody>
            <a:bodyPr anchor="ctr" rtlCol="false" tIns="50800" lIns="50800" bIns="50800" rIns="50800"/>
            <a:lstStyle/>
            <a:p>
              <a:pPr algn="ctr">
                <a:lnSpc>
                  <a:spcPts val="3210"/>
                </a:lnSpc>
              </a:pPr>
            </a:p>
          </p:txBody>
        </p:sp>
      </p:grpSp>
      <p:sp>
        <p:nvSpPr>
          <p:cNvPr name="TextBox 33" id="33"/>
          <p:cNvSpPr txBox="true"/>
          <p:nvPr/>
        </p:nvSpPr>
        <p:spPr>
          <a:xfrm rot="0">
            <a:off x="5121416" y="8484235"/>
            <a:ext cx="11123360" cy="1478402"/>
          </a:xfrm>
          <a:prstGeom prst="rect">
            <a:avLst/>
          </a:prstGeom>
        </p:spPr>
        <p:txBody>
          <a:bodyPr anchor="t" rtlCol="false" tIns="0" lIns="0" bIns="0" rIns="0">
            <a:spAutoFit/>
          </a:bodyPr>
          <a:lstStyle/>
          <a:p>
            <a:pPr algn="just">
              <a:lnSpc>
                <a:spcPts val="3921"/>
              </a:lnSpc>
            </a:pPr>
            <a:r>
              <a:rPr lang="en-US" sz="2781">
                <a:solidFill>
                  <a:srgbClr val="000000"/>
                </a:solidFill>
                <a:latin typeface="Inter"/>
                <a:ea typeface="Inter"/>
                <a:cs typeface="Inter"/>
                <a:sym typeface="Inter"/>
              </a:rPr>
              <a:t>Ces fonctionnalités ont été traduites en User Stories, puis intégrées directement dans notre Trello afin de planifier et suivre efficacement nos sprints de développement.</a:t>
            </a:r>
          </a:p>
        </p:txBody>
      </p:sp>
    </p:spTree>
  </p:cSld>
  <p:clrMapOvr>
    <a:masterClrMapping/>
  </p:clrMapOvr>
  <p:transition spd="fast">
    <p:push dir="l"/>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1818968" y="1760572"/>
            <a:ext cx="7981447" cy="7379489"/>
            <a:chOff x="0" y="0"/>
            <a:chExt cx="2447010" cy="2262458"/>
          </a:xfrm>
        </p:grpSpPr>
        <p:sp>
          <p:nvSpPr>
            <p:cNvPr name="Freeform 4" id="4"/>
            <p:cNvSpPr/>
            <p:nvPr/>
          </p:nvSpPr>
          <p:spPr>
            <a:xfrm flipH="false" flipV="false" rot="0">
              <a:off x="0" y="0"/>
              <a:ext cx="2447010" cy="2262458"/>
            </a:xfrm>
            <a:custGeom>
              <a:avLst/>
              <a:gdLst/>
              <a:ahLst/>
              <a:cxnLst/>
              <a:rect r="r" b="b" t="t" l="l"/>
              <a:pathLst>
                <a:path h="2262458" w="2447010">
                  <a:moveTo>
                    <a:pt x="10670" y="0"/>
                  </a:moveTo>
                  <a:lnTo>
                    <a:pt x="2436340" y="0"/>
                  </a:lnTo>
                  <a:cubicBezTo>
                    <a:pt x="2439170" y="0"/>
                    <a:pt x="2441884" y="1124"/>
                    <a:pt x="2443885" y="3125"/>
                  </a:cubicBezTo>
                  <a:cubicBezTo>
                    <a:pt x="2445886" y="5126"/>
                    <a:pt x="2447010" y="7840"/>
                    <a:pt x="2447010" y="10670"/>
                  </a:cubicBezTo>
                  <a:lnTo>
                    <a:pt x="2447010" y="2251788"/>
                  </a:lnTo>
                  <a:cubicBezTo>
                    <a:pt x="2447010" y="2257681"/>
                    <a:pt x="2442233" y="2262458"/>
                    <a:pt x="2436340" y="2262458"/>
                  </a:cubicBezTo>
                  <a:lnTo>
                    <a:pt x="10670" y="2262458"/>
                  </a:lnTo>
                  <a:cubicBezTo>
                    <a:pt x="7840" y="2262458"/>
                    <a:pt x="5126" y="2261334"/>
                    <a:pt x="3125" y="2259333"/>
                  </a:cubicBezTo>
                  <a:cubicBezTo>
                    <a:pt x="1124" y="2257332"/>
                    <a:pt x="0" y="2254618"/>
                    <a:pt x="0" y="2251788"/>
                  </a:cubicBezTo>
                  <a:lnTo>
                    <a:pt x="0" y="10670"/>
                  </a:lnTo>
                  <a:cubicBezTo>
                    <a:pt x="0" y="4777"/>
                    <a:pt x="4777" y="0"/>
                    <a:pt x="10670" y="0"/>
                  </a:cubicBezTo>
                  <a:close/>
                </a:path>
              </a:pathLst>
            </a:custGeom>
            <a:solidFill>
              <a:srgbClr val="FFFFFF"/>
            </a:solidFill>
            <a:ln w="38100" cap="sq">
              <a:solidFill>
                <a:srgbClr val="154428"/>
              </a:solidFill>
              <a:prstDash val="solid"/>
              <a:miter/>
            </a:ln>
          </p:spPr>
        </p:sp>
        <p:sp>
          <p:nvSpPr>
            <p:cNvPr name="TextBox 5" id="5"/>
            <p:cNvSpPr txBox="true"/>
            <p:nvPr/>
          </p:nvSpPr>
          <p:spPr>
            <a:xfrm>
              <a:off x="0" y="-47625"/>
              <a:ext cx="2447010" cy="2310083"/>
            </a:xfrm>
            <a:prstGeom prst="rect">
              <a:avLst/>
            </a:prstGeom>
          </p:spPr>
          <p:txBody>
            <a:bodyPr anchor="ctr" rtlCol="false" tIns="50800" lIns="50800" bIns="50800" rIns="50800"/>
            <a:lstStyle/>
            <a:p>
              <a:pPr algn="ctr">
                <a:lnSpc>
                  <a:spcPts val="3210"/>
                </a:lnSpc>
              </a:pPr>
            </a:p>
          </p:txBody>
        </p:sp>
      </p:grpSp>
      <p:sp>
        <p:nvSpPr>
          <p:cNvPr name="Freeform 6" id="6"/>
          <p:cNvSpPr/>
          <p:nvPr/>
        </p:nvSpPr>
        <p:spPr>
          <a:xfrm flipH="false" flipV="false" rot="0">
            <a:off x="209671" y="6753080"/>
            <a:ext cx="3584090" cy="3192451"/>
          </a:xfrm>
          <a:custGeom>
            <a:avLst/>
            <a:gdLst/>
            <a:ahLst/>
            <a:cxnLst/>
            <a:rect r="r" b="b" t="t" l="l"/>
            <a:pathLst>
              <a:path h="3192451" w="3584090">
                <a:moveTo>
                  <a:pt x="0" y="0"/>
                </a:moveTo>
                <a:lnTo>
                  <a:pt x="3584090" y="0"/>
                </a:lnTo>
                <a:lnTo>
                  <a:pt x="3584090" y="3192451"/>
                </a:lnTo>
                <a:lnTo>
                  <a:pt x="0" y="31924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1437982">
            <a:off x="8342879" y="246438"/>
            <a:ext cx="3160431" cy="3028267"/>
          </a:xfrm>
          <a:custGeom>
            <a:avLst/>
            <a:gdLst/>
            <a:ahLst/>
            <a:cxnLst/>
            <a:rect r="r" b="b" t="t" l="l"/>
            <a:pathLst>
              <a:path h="3028267" w="3160431">
                <a:moveTo>
                  <a:pt x="0" y="0"/>
                </a:moveTo>
                <a:lnTo>
                  <a:pt x="3160431" y="0"/>
                </a:lnTo>
                <a:lnTo>
                  <a:pt x="3160431" y="3028268"/>
                </a:lnTo>
                <a:lnTo>
                  <a:pt x="0" y="302826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251672" y="235942"/>
            <a:ext cx="1360965" cy="1360965"/>
          </a:xfrm>
          <a:custGeom>
            <a:avLst/>
            <a:gdLst/>
            <a:ahLst/>
            <a:cxnLst/>
            <a:rect r="r" b="b" t="t" l="l"/>
            <a:pathLst>
              <a:path h="1360965" w="1360965">
                <a:moveTo>
                  <a:pt x="0" y="0"/>
                </a:moveTo>
                <a:lnTo>
                  <a:pt x="1360965" y="0"/>
                </a:lnTo>
                <a:lnTo>
                  <a:pt x="1360965" y="1360966"/>
                </a:lnTo>
                <a:lnTo>
                  <a:pt x="0" y="1360966"/>
                </a:lnTo>
                <a:lnTo>
                  <a:pt x="0" y="0"/>
                </a:lnTo>
                <a:close/>
              </a:path>
            </a:pathLst>
          </a:custGeom>
          <a:blipFill>
            <a:blip r:embed="rId7"/>
            <a:stretch>
              <a:fillRect l="0" t="0" r="0" b="0"/>
            </a:stretch>
          </a:blipFill>
        </p:spPr>
      </p:sp>
      <p:sp>
        <p:nvSpPr>
          <p:cNvPr name="Freeform 9" id="9"/>
          <p:cNvSpPr/>
          <p:nvPr/>
        </p:nvSpPr>
        <p:spPr>
          <a:xfrm flipH="false" flipV="false" rot="0">
            <a:off x="11510028" y="361301"/>
            <a:ext cx="3114407" cy="4782199"/>
          </a:xfrm>
          <a:custGeom>
            <a:avLst/>
            <a:gdLst/>
            <a:ahLst/>
            <a:cxnLst/>
            <a:rect r="r" b="b" t="t" l="l"/>
            <a:pathLst>
              <a:path h="4782199" w="3114407">
                <a:moveTo>
                  <a:pt x="0" y="0"/>
                </a:moveTo>
                <a:lnTo>
                  <a:pt x="3114407" y="0"/>
                </a:lnTo>
                <a:lnTo>
                  <a:pt x="3114407" y="4782199"/>
                </a:lnTo>
                <a:lnTo>
                  <a:pt x="0" y="4782199"/>
                </a:lnTo>
                <a:lnTo>
                  <a:pt x="0" y="0"/>
                </a:lnTo>
                <a:close/>
              </a:path>
            </a:pathLst>
          </a:custGeom>
          <a:blipFill>
            <a:blip r:embed="rId8"/>
            <a:stretch>
              <a:fillRect l="0" t="0" r="0" b="0"/>
            </a:stretch>
          </a:blipFill>
        </p:spPr>
      </p:sp>
      <p:sp>
        <p:nvSpPr>
          <p:cNvPr name="Freeform 10" id="10"/>
          <p:cNvSpPr/>
          <p:nvPr/>
        </p:nvSpPr>
        <p:spPr>
          <a:xfrm flipH="false" flipV="false" rot="0">
            <a:off x="14799922" y="5264627"/>
            <a:ext cx="3142971" cy="4826060"/>
          </a:xfrm>
          <a:custGeom>
            <a:avLst/>
            <a:gdLst/>
            <a:ahLst/>
            <a:cxnLst/>
            <a:rect r="r" b="b" t="t" l="l"/>
            <a:pathLst>
              <a:path h="4826060" w="3142971">
                <a:moveTo>
                  <a:pt x="0" y="0"/>
                </a:moveTo>
                <a:lnTo>
                  <a:pt x="3142971" y="0"/>
                </a:lnTo>
                <a:lnTo>
                  <a:pt x="3142971" y="4826060"/>
                </a:lnTo>
                <a:lnTo>
                  <a:pt x="0" y="4826060"/>
                </a:lnTo>
                <a:lnTo>
                  <a:pt x="0" y="0"/>
                </a:lnTo>
                <a:close/>
              </a:path>
            </a:pathLst>
          </a:custGeom>
          <a:blipFill>
            <a:blip r:embed="rId9"/>
            <a:stretch>
              <a:fillRect l="0" t="0" r="0" b="0"/>
            </a:stretch>
          </a:blipFill>
        </p:spPr>
      </p:sp>
      <p:sp>
        <p:nvSpPr>
          <p:cNvPr name="Freeform 11" id="11"/>
          <p:cNvSpPr/>
          <p:nvPr/>
        </p:nvSpPr>
        <p:spPr>
          <a:xfrm flipH="false" flipV="false" rot="0">
            <a:off x="14671750" y="361301"/>
            <a:ext cx="3299718" cy="4782199"/>
          </a:xfrm>
          <a:custGeom>
            <a:avLst/>
            <a:gdLst/>
            <a:ahLst/>
            <a:cxnLst/>
            <a:rect r="r" b="b" t="t" l="l"/>
            <a:pathLst>
              <a:path h="4782199" w="3299718">
                <a:moveTo>
                  <a:pt x="0" y="0"/>
                </a:moveTo>
                <a:lnTo>
                  <a:pt x="3299718" y="0"/>
                </a:lnTo>
                <a:lnTo>
                  <a:pt x="3299718" y="4782199"/>
                </a:lnTo>
                <a:lnTo>
                  <a:pt x="0" y="4782199"/>
                </a:lnTo>
                <a:lnTo>
                  <a:pt x="0" y="0"/>
                </a:lnTo>
                <a:close/>
              </a:path>
            </a:pathLst>
          </a:custGeom>
          <a:blipFill>
            <a:blip r:embed="rId10"/>
            <a:stretch>
              <a:fillRect l="0" t="0" r="0" b="0"/>
            </a:stretch>
          </a:blipFill>
        </p:spPr>
      </p:sp>
      <p:sp>
        <p:nvSpPr>
          <p:cNvPr name="Freeform 12" id="12"/>
          <p:cNvSpPr/>
          <p:nvPr/>
        </p:nvSpPr>
        <p:spPr>
          <a:xfrm flipH="false" flipV="false" rot="0">
            <a:off x="11510028" y="5264627"/>
            <a:ext cx="3142971" cy="4826060"/>
          </a:xfrm>
          <a:custGeom>
            <a:avLst/>
            <a:gdLst/>
            <a:ahLst/>
            <a:cxnLst/>
            <a:rect r="r" b="b" t="t" l="l"/>
            <a:pathLst>
              <a:path h="4826060" w="3142971">
                <a:moveTo>
                  <a:pt x="0" y="0"/>
                </a:moveTo>
                <a:lnTo>
                  <a:pt x="3142971" y="0"/>
                </a:lnTo>
                <a:lnTo>
                  <a:pt x="3142971" y="4826060"/>
                </a:lnTo>
                <a:lnTo>
                  <a:pt x="0" y="4826060"/>
                </a:lnTo>
                <a:lnTo>
                  <a:pt x="0" y="0"/>
                </a:lnTo>
                <a:close/>
              </a:path>
            </a:pathLst>
          </a:custGeom>
          <a:blipFill>
            <a:blip r:embed="rId11"/>
            <a:stretch>
              <a:fillRect l="0" t="0" r="0" b="0"/>
            </a:stretch>
          </a:blipFill>
        </p:spPr>
      </p:sp>
      <p:sp>
        <p:nvSpPr>
          <p:cNvPr name="TextBox 13" id="13"/>
          <p:cNvSpPr txBox="true"/>
          <p:nvPr/>
        </p:nvSpPr>
        <p:spPr>
          <a:xfrm rot="0">
            <a:off x="3086695" y="2134498"/>
            <a:ext cx="5445992" cy="920628"/>
          </a:xfrm>
          <a:prstGeom prst="rect">
            <a:avLst/>
          </a:prstGeom>
        </p:spPr>
        <p:txBody>
          <a:bodyPr anchor="t" rtlCol="false" tIns="0" lIns="0" bIns="0" rIns="0">
            <a:spAutoFit/>
          </a:bodyPr>
          <a:lstStyle/>
          <a:p>
            <a:pPr algn="ctr" marL="0" indent="0" lvl="0">
              <a:lnSpc>
                <a:spcPts val="7531"/>
              </a:lnSpc>
              <a:spcBef>
                <a:spcPct val="0"/>
              </a:spcBef>
            </a:pPr>
            <a:r>
              <a:rPr lang="en-US" b="true" sz="5379">
                <a:solidFill>
                  <a:srgbClr val="197237"/>
                </a:solidFill>
                <a:latin typeface="Inter Bold"/>
                <a:ea typeface="Inter Bold"/>
                <a:cs typeface="Inter Bold"/>
                <a:sym typeface="Inter Bold"/>
              </a:rPr>
              <a:t>Les wireframes</a:t>
            </a:r>
          </a:p>
        </p:txBody>
      </p:sp>
      <p:sp>
        <p:nvSpPr>
          <p:cNvPr name="TextBox 14" id="14"/>
          <p:cNvSpPr txBox="true"/>
          <p:nvPr/>
        </p:nvSpPr>
        <p:spPr>
          <a:xfrm rot="0">
            <a:off x="2666639" y="3682751"/>
            <a:ext cx="6286105" cy="4668607"/>
          </a:xfrm>
          <a:prstGeom prst="rect">
            <a:avLst/>
          </a:prstGeom>
        </p:spPr>
        <p:txBody>
          <a:bodyPr anchor="t" rtlCol="false" tIns="0" lIns="0" bIns="0" rIns="0">
            <a:spAutoFit/>
          </a:bodyPr>
          <a:lstStyle/>
          <a:p>
            <a:pPr algn="just">
              <a:lnSpc>
                <a:spcPts val="3075"/>
              </a:lnSpc>
            </a:pPr>
            <a:r>
              <a:rPr lang="en-US" sz="2196">
                <a:solidFill>
                  <a:srgbClr val="01070A"/>
                </a:solidFill>
                <a:latin typeface="Inter"/>
                <a:ea typeface="Inter"/>
                <a:cs typeface="Inter"/>
                <a:sym typeface="Inter"/>
              </a:rPr>
              <a:t>Conc</a:t>
            </a:r>
            <a:r>
              <a:rPr lang="en-US" sz="2196" strike="noStrike" u="none">
                <a:solidFill>
                  <a:srgbClr val="01070A"/>
                </a:solidFill>
                <a:latin typeface="Inter"/>
                <a:ea typeface="Inter"/>
                <a:cs typeface="Inter"/>
                <a:sym typeface="Inter"/>
              </a:rPr>
              <a:t>ernant l’aspect visuel, nous avons définis la structure de BookHub via des wireframes basse fidélité. </a:t>
            </a:r>
          </a:p>
          <a:p>
            <a:pPr algn="just">
              <a:lnSpc>
                <a:spcPts val="3075"/>
              </a:lnSpc>
            </a:pPr>
          </a:p>
          <a:p>
            <a:pPr algn="just">
              <a:lnSpc>
                <a:spcPts val="3075"/>
              </a:lnSpc>
            </a:pPr>
            <a:r>
              <a:rPr lang="en-US" sz="2196" strike="noStrike" u="none">
                <a:solidFill>
                  <a:srgbClr val="01070A"/>
                </a:solidFill>
                <a:latin typeface="Inter"/>
                <a:ea typeface="Inter"/>
                <a:cs typeface="Inter"/>
                <a:sym typeface="Inter"/>
              </a:rPr>
              <a:t>Cette étape cruciale permet de : </a:t>
            </a:r>
          </a:p>
          <a:p>
            <a:pPr algn="just" marL="474243" indent="-237121" lvl="1">
              <a:lnSpc>
                <a:spcPts val="3075"/>
              </a:lnSpc>
              <a:buFont typeface="Arial"/>
              <a:buChar char="•"/>
            </a:pPr>
            <a:r>
              <a:rPr lang="en-US" sz="2196" strike="noStrike" u="none">
                <a:solidFill>
                  <a:srgbClr val="01070A"/>
                </a:solidFill>
                <a:latin typeface="Inter"/>
                <a:ea typeface="Inter"/>
                <a:cs typeface="Inter"/>
                <a:sym typeface="Inter"/>
              </a:rPr>
              <a:t>hiérachiser l’information : positionner les éléments clés (r</a:t>
            </a:r>
            <a:r>
              <a:rPr lang="en-US" sz="2196" strike="noStrike" u="none">
                <a:solidFill>
                  <a:srgbClr val="01070A"/>
                </a:solidFill>
                <a:latin typeface="Inter"/>
                <a:ea typeface="Inter"/>
                <a:cs typeface="Inter"/>
                <a:sym typeface="Inter"/>
              </a:rPr>
              <a:t>e</a:t>
            </a:r>
            <a:r>
              <a:rPr lang="en-US" sz="2196" strike="noStrike" u="none">
                <a:solidFill>
                  <a:srgbClr val="01070A"/>
                </a:solidFill>
                <a:latin typeface="Inter"/>
                <a:ea typeface="Inter"/>
                <a:cs typeface="Inter"/>
                <a:sym typeface="Inter"/>
              </a:rPr>
              <a:t>che</a:t>
            </a:r>
            <a:r>
              <a:rPr lang="en-US" sz="2196" strike="noStrike" u="none">
                <a:solidFill>
                  <a:srgbClr val="01070A"/>
                </a:solidFill>
                <a:latin typeface="Inter"/>
                <a:ea typeface="Inter"/>
                <a:cs typeface="Inter"/>
                <a:sym typeface="Inter"/>
              </a:rPr>
              <a:t>r</a:t>
            </a:r>
            <a:r>
              <a:rPr lang="en-US" sz="2196" strike="noStrike" u="none">
                <a:solidFill>
                  <a:srgbClr val="01070A"/>
                </a:solidFill>
                <a:latin typeface="Inter"/>
                <a:ea typeface="Inter"/>
                <a:cs typeface="Inter"/>
                <a:sym typeface="Inter"/>
              </a:rPr>
              <a:t>che, </a:t>
            </a:r>
            <a:r>
              <a:rPr lang="en-US" sz="2196" strike="noStrike" u="none">
                <a:solidFill>
                  <a:srgbClr val="01070A"/>
                </a:solidFill>
                <a:latin typeface="Inter"/>
                <a:ea typeface="Inter"/>
                <a:cs typeface="Inter"/>
                <a:sym typeface="Inter"/>
              </a:rPr>
              <a:t>c</a:t>
            </a:r>
            <a:r>
              <a:rPr lang="en-US" sz="2196" strike="noStrike" u="none">
                <a:solidFill>
                  <a:srgbClr val="01070A"/>
                </a:solidFill>
                <a:latin typeface="Inter"/>
                <a:ea typeface="Inter"/>
                <a:cs typeface="Inter"/>
                <a:sym typeface="Inter"/>
              </a:rPr>
              <a:t>a</a:t>
            </a:r>
            <a:r>
              <a:rPr lang="en-US" sz="2196" strike="noStrike" u="none">
                <a:solidFill>
                  <a:srgbClr val="01070A"/>
                </a:solidFill>
                <a:latin typeface="Inter"/>
                <a:ea typeface="Inter"/>
                <a:cs typeface="Inter"/>
                <a:sym typeface="Inter"/>
              </a:rPr>
              <a:t>t</a:t>
            </a:r>
            <a:r>
              <a:rPr lang="en-US" sz="2196" strike="noStrike" u="none">
                <a:solidFill>
                  <a:srgbClr val="01070A"/>
                </a:solidFill>
                <a:latin typeface="Inter"/>
                <a:ea typeface="Inter"/>
                <a:cs typeface="Inter"/>
                <a:sym typeface="Inter"/>
              </a:rPr>
              <a:t>alog</a:t>
            </a:r>
            <a:r>
              <a:rPr lang="en-US" sz="2196" strike="noStrike" u="none">
                <a:solidFill>
                  <a:srgbClr val="01070A"/>
                </a:solidFill>
                <a:latin typeface="Inter"/>
                <a:ea typeface="Inter"/>
                <a:cs typeface="Inter"/>
                <a:sym typeface="Inter"/>
              </a:rPr>
              <a:t>u</a:t>
            </a:r>
            <a:r>
              <a:rPr lang="en-US" sz="2196" strike="noStrike" u="none">
                <a:solidFill>
                  <a:srgbClr val="01070A"/>
                </a:solidFill>
                <a:latin typeface="Inter"/>
                <a:ea typeface="Inter"/>
                <a:cs typeface="Inter"/>
                <a:sym typeface="Inter"/>
              </a:rPr>
              <a:t>e, </a:t>
            </a:r>
            <a:r>
              <a:rPr lang="en-US" sz="2196" strike="noStrike" u="none">
                <a:solidFill>
                  <a:srgbClr val="01070A"/>
                </a:solidFill>
                <a:latin typeface="Inter"/>
                <a:ea typeface="Inter"/>
                <a:cs typeface="Inter"/>
                <a:sym typeface="Inter"/>
              </a:rPr>
              <a:t>bo</a:t>
            </a:r>
            <a:r>
              <a:rPr lang="en-US" sz="2196" strike="noStrike" u="none">
                <a:solidFill>
                  <a:srgbClr val="01070A"/>
                </a:solidFill>
                <a:latin typeface="Inter"/>
                <a:ea typeface="Inter"/>
                <a:cs typeface="Inter"/>
                <a:sym typeface="Inter"/>
              </a:rPr>
              <a:t>u</a:t>
            </a:r>
            <a:r>
              <a:rPr lang="en-US" sz="2196" strike="noStrike" u="none">
                <a:solidFill>
                  <a:srgbClr val="01070A"/>
                </a:solidFill>
                <a:latin typeface="Inter"/>
                <a:ea typeface="Inter"/>
                <a:cs typeface="Inter"/>
                <a:sym typeface="Inter"/>
              </a:rPr>
              <a:t>t</a:t>
            </a:r>
            <a:r>
              <a:rPr lang="en-US" sz="2196" strike="noStrike" u="none">
                <a:solidFill>
                  <a:srgbClr val="01070A"/>
                </a:solidFill>
                <a:latin typeface="Inter"/>
                <a:ea typeface="Inter"/>
                <a:cs typeface="Inter"/>
                <a:sym typeface="Inter"/>
              </a:rPr>
              <a:t>ons...),</a:t>
            </a:r>
          </a:p>
          <a:p>
            <a:pPr algn="just" marL="474243" indent="-237121" lvl="1">
              <a:lnSpc>
                <a:spcPts val="3075"/>
              </a:lnSpc>
              <a:buFont typeface="Arial"/>
              <a:buChar char="•"/>
            </a:pPr>
            <a:r>
              <a:rPr lang="en-US" sz="2196" strike="noStrike" u="none">
                <a:solidFill>
                  <a:srgbClr val="01070A"/>
                </a:solidFill>
                <a:latin typeface="Inter"/>
                <a:ea typeface="Inter"/>
                <a:cs typeface="Inter"/>
                <a:sym typeface="Inter"/>
              </a:rPr>
              <a:t>é</a:t>
            </a:r>
            <a:r>
              <a:rPr lang="en-US" sz="2196" strike="noStrike" u="none">
                <a:solidFill>
                  <a:srgbClr val="01070A"/>
                </a:solidFill>
                <a:latin typeface="Inter"/>
                <a:ea typeface="Inter"/>
                <a:cs typeface="Inter"/>
                <a:sym typeface="Inter"/>
              </a:rPr>
              <a:t>p</a:t>
            </a:r>
            <a:r>
              <a:rPr lang="en-US" sz="2196" strike="noStrike" u="none">
                <a:solidFill>
                  <a:srgbClr val="01070A"/>
                </a:solidFill>
                <a:latin typeface="Inter"/>
                <a:ea typeface="Inter"/>
                <a:cs typeface="Inter"/>
                <a:sym typeface="Inter"/>
              </a:rPr>
              <a:t>r</a:t>
            </a:r>
            <a:r>
              <a:rPr lang="en-US" sz="2196" strike="noStrike" u="none">
                <a:solidFill>
                  <a:srgbClr val="01070A"/>
                </a:solidFill>
                <a:latin typeface="Inter"/>
                <a:ea typeface="Inter"/>
                <a:cs typeface="Inter"/>
                <a:sym typeface="Inter"/>
              </a:rPr>
              <a:t>ouv</a:t>
            </a:r>
            <a:r>
              <a:rPr lang="en-US" sz="2196" strike="noStrike" u="none">
                <a:solidFill>
                  <a:srgbClr val="01070A"/>
                </a:solidFill>
                <a:latin typeface="Inter"/>
                <a:ea typeface="Inter"/>
                <a:cs typeface="Inter"/>
                <a:sym typeface="Inter"/>
              </a:rPr>
              <a:t>e</a:t>
            </a:r>
            <a:r>
              <a:rPr lang="en-US" sz="2196" strike="noStrike" u="none">
                <a:solidFill>
                  <a:srgbClr val="01070A"/>
                </a:solidFill>
                <a:latin typeface="Inter"/>
                <a:ea typeface="Inter"/>
                <a:cs typeface="Inter"/>
                <a:sym typeface="Inter"/>
              </a:rPr>
              <a:t>r</a:t>
            </a:r>
            <a:r>
              <a:rPr lang="en-US" sz="2196" strike="noStrike" u="none">
                <a:solidFill>
                  <a:srgbClr val="01070A"/>
                </a:solidFill>
                <a:latin typeface="Inter"/>
                <a:ea typeface="Inter"/>
                <a:cs typeface="Inter"/>
                <a:sym typeface="Inter"/>
              </a:rPr>
              <a:t> </a:t>
            </a:r>
            <a:r>
              <a:rPr lang="en-US" sz="2196" strike="noStrike" u="none">
                <a:solidFill>
                  <a:srgbClr val="01070A"/>
                </a:solidFill>
                <a:latin typeface="Inter"/>
                <a:ea typeface="Inter"/>
                <a:cs typeface="Inter"/>
                <a:sym typeface="Inter"/>
              </a:rPr>
              <a:t>les p</a:t>
            </a:r>
            <a:r>
              <a:rPr lang="en-US" sz="2196" strike="noStrike" u="none">
                <a:solidFill>
                  <a:srgbClr val="01070A"/>
                </a:solidFill>
                <a:latin typeface="Inter"/>
                <a:ea typeface="Inter"/>
                <a:cs typeface="Inter"/>
                <a:sym typeface="Inter"/>
              </a:rPr>
              <a:t>ar</a:t>
            </a:r>
            <a:r>
              <a:rPr lang="en-US" sz="2196" strike="noStrike" u="none">
                <a:solidFill>
                  <a:srgbClr val="01070A"/>
                </a:solidFill>
                <a:latin typeface="Inter"/>
                <a:ea typeface="Inter"/>
                <a:cs typeface="Inter"/>
                <a:sym typeface="Inter"/>
              </a:rPr>
              <a:t>co</a:t>
            </a:r>
            <a:r>
              <a:rPr lang="en-US" sz="2196" strike="noStrike" u="none">
                <a:solidFill>
                  <a:srgbClr val="01070A"/>
                </a:solidFill>
                <a:latin typeface="Inter"/>
                <a:ea typeface="Inter"/>
                <a:cs typeface="Inter"/>
                <a:sym typeface="Inter"/>
              </a:rPr>
              <a:t>urs </a:t>
            </a:r>
            <a:r>
              <a:rPr lang="en-US" sz="2196" strike="noStrike" u="none">
                <a:solidFill>
                  <a:srgbClr val="01070A"/>
                </a:solidFill>
                <a:latin typeface="Inter"/>
                <a:ea typeface="Inter"/>
                <a:cs typeface="Inter"/>
                <a:sym typeface="Inter"/>
              </a:rPr>
              <a:t>: s’assurer de la succession logiques des pages dans les parcours.</a:t>
            </a:r>
          </a:p>
          <a:p>
            <a:pPr algn="just">
              <a:lnSpc>
                <a:spcPts val="3075"/>
              </a:lnSpc>
            </a:pPr>
          </a:p>
        </p:txBody>
      </p:sp>
    </p:spTree>
  </p:cSld>
  <p:clrMapOvr>
    <a:masterClrMapping/>
  </p:clrMapOvr>
  <p:transition spd="fast">
    <p:push dir="l"/>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2718942" y="-1020498"/>
            <a:ext cx="12850115" cy="10811465"/>
            <a:chOff x="0" y="0"/>
            <a:chExt cx="17133487" cy="14415287"/>
          </a:xfrm>
        </p:grpSpPr>
        <p:grpSp>
          <p:nvGrpSpPr>
            <p:cNvPr name="Group 4" id="4"/>
            <p:cNvGrpSpPr/>
            <p:nvPr/>
          </p:nvGrpSpPr>
          <p:grpSpPr>
            <a:xfrm rot="0">
              <a:off x="2934317" y="2829840"/>
              <a:ext cx="11322468" cy="10310060"/>
              <a:chOff x="0" y="0"/>
              <a:chExt cx="2484622" cy="2262458"/>
            </a:xfrm>
          </p:grpSpPr>
          <p:sp>
            <p:nvSpPr>
              <p:cNvPr name="Freeform 5" id="5"/>
              <p:cNvSpPr/>
              <p:nvPr/>
            </p:nvSpPr>
            <p:spPr>
              <a:xfrm flipH="false" flipV="false" rot="0">
                <a:off x="0" y="0"/>
                <a:ext cx="2484622" cy="2262458"/>
              </a:xfrm>
              <a:custGeom>
                <a:avLst/>
                <a:gdLst/>
                <a:ahLst/>
                <a:cxnLst/>
                <a:rect r="r" b="b" t="t" l="l"/>
                <a:pathLst>
                  <a:path h="2262458" w="2484622">
                    <a:moveTo>
                      <a:pt x="10508" y="0"/>
                    </a:moveTo>
                    <a:lnTo>
                      <a:pt x="2474114" y="0"/>
                    </a:lnTo>
                    <a:cubicBezTo>
                      <a:pt x="2479918" y="0"/>
                      <a:pt x="2484622" y="4705"/>
                      <a:pt x="2484622" y="10508"/>
                    </a:cubicBezTo>
                    <a:lnTo>
                      <a:pt x="2484622" y="2251950"/>
                    </a:lnTo>
                    <a:cubicBezTo>
                      <a:pt x="2484622" y="2257753"/>
                      <a:pt x="2479918" y="2262458"/>
                      <a:pt x="2474114" y="2262458"/>
                    </a:cubicBezTo>
                    <a:lnTo>
                      <a:pt x="10508" y="2262458"/>
                    </a:lnTo>
                    <a:cubicBezTo>
                      <a:pt x="4705" y="2262458"/>
                      <a:pt x="0" y="2257753"/>
                      <a:pt x="0" y="2251950"/>
                    </a:cubicBezTo>
                    <a:lnTo>
                      <a:pt x="0" y="10508"/>
                    </a:lnTo>
                    <a:cubicBezTo>
                      <a:pt x="0" y="4705"/>
                      <a:pt x="4705" y="0"/>
                      <a:pt x="10508" y="0"/>
                    </a:cubicBezTo>
                    <a:close/>
                  </a:path>
                </a:pathLst>
              </a:custGeom>
              <a:solidFill>
                <a:srgbClr val="FFFFFF"/>
              </a:solidFill>
              <a:ln w="38100" cap="sq">
                <a:solidFill>
                  <a:srgbClr val="154428"/>
                </a:solidFill>
                <a:prstDash val="solid"/>
                <a:miter/>
              </a:ln>
            </p:spPr>
          </p:sp>
          <p:sp>
            <p:nvSpPr>
              <p:cNvPr name="TextBox 6" id="6"/>
              <p:cNvSpPr txBox="true"/>
              <p:nvPr/>
            </p:nvSpPr>
            <p:spPr>
              <a:xfrm>
                <a:off x="0" y="-47625"/>
                <a:ext cx="2484622" cy="2310083"/>
              </a:xfrm>
              <a:prstGeom prst="rect">
                <a:avLst/>
              </a:prstGeom>
            </p:spPr>
            <p:txBody>
              <a:bodyPr anchor="ctr" rtlCol="false" tIns="50800" lIns="50800" bIns="50800" rIns="50800"/>
              <a:lstStyle/>
              <a:p>
                <a:pPr algn="ctr">
                  <a:lnSpc>
                    <a:spcPts val="3210"/>
                  </a:lnSpc>
                </a:pPr>
              </a:p>
            </p:txBody>
          </p:sp>
        </p:grpSp>
        <p:sp>
          <p:nvSpPr>
            <p:cNvPr name="Freeform 7" id="7"/>
            <p:cNvSpPr/>
            <p:nvPr/>
          </p:nvSpPr>
          <p:spPr>
            <a:xfrm flipH="false" flipV="false" rot="0">
              <a:off x="0" y="9955039"/>
              <a:ext cx="5007417" cy="4460249"/>
            </a:xfrm>
            <a:custGeom>
              <a:avLst/>
              <a:gdLst/>
              <a:ahLst/>
              <a:cxnLst/>
              <a:rect r="r" b="b" t="t" l="l"/>
              <a:pathLst>
                <a:path h="4460249" w="5007417">
                  <a:moveTo>
                    <a:pt x="0" y="0"/>
                  </a:moveTo>
                  <a:lnTo>
                    <a:pt x="5007417" y="0"/>
                  </a:lnTo>
                  <a:lnTo>
                    <a:pt x="5007417" y="4460248"/>
                  </a:lnTo>
                  <a:lnTo>
                    <a:pt x="0" y="44602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1437982">
              <a:off x="12049029" y="714408"/>
              <a:ext cx="4415513" cy="4230864"/>
            </a:xfrm>
            <a:custGeom>
              <a:avLst/>
              <a:gdLst/>
              <a:ahLst/>
              <a:cxnLst/>
              <a:rect r="r" b="b" t="t" l="l"/>
              <a:pathLst>
                <a:path h="4230864" w="4415513">
                  <a:moveTo>
                    <a:pt x="0" y="0"/>
                  </a:moveTo>
                  <a:lnTo>
                    <a:pt x="4415512" y="0"/>
                  </a:lnTo>
                  <a:lnTo>
                    <a:pt x="4415512" y="4230864"/>
                  </a:lnTo>
                  <a:lnTo>
                    <a:pt x="0" y="42308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4705489" y="3393868"/>
              <a:ext cx="7608725" cy="1244623"/>
            </a:xfrm>
            <a:prstGeom prst="rect">
              <a:avLst/>
            </a:prstGeom>
          </p:spPr>
          <p:txBody>
            <a:bodyPr anchor="t" rtlCol="false" tIns="0" lIns="0" bIns="0" rIns="0">
              <a:spAutoFit/>
            </a:bodyPr>
            <a:lstStyle/>
            <a:p>
              <a:pPr algn="ctr" marL="0" indent="0" lvl="0">
                <a:lnSpc>
                  <a:spcPts val="7892"/>
                </a:lnSpc>
                <a:spcBef>
                  <a:spcPct val="0"/>
                </a:spcBef>
              </a:pPr>
              <a:r>
                <a:rPr lang="en-US" b="true" sz="5637">
                  <a:solidFill>
                    <a:srgbClr val="197237"/>
                  </a:solidFill>
                  <a:latin typeface="Inter Bold"/>
                  <a:ea typeface="Inter Bold"/>
                  <a:cs typeface="Inter Bold"/>
                  <a:sym typeface="Inter Bold"/>
                </a:rPr>
                <a:t>Les maquettes</a:t>
              </a:r>
            </a:p>
          </p:txBody>
        </p:sp>
        <p:sp>
          <p:nvSpPr>
            <p:cNvPr name="TextBox 10" id="10"/>
            <p:cNvSpPr txBox="true"/>
            <p:nvPr/>
          </p:nvSpPr>
          <p:spPr>
            <a:xfrm rot="0">
              <a:off x="3775653" y="5520967"/>
              <a:ext cx="10197197" cy="6517016"/>
            </a:xfrm>
            <a:prstGeom prst="rect">
              <a:avLst/>
            </a:prstGeom>
          </p:spPr>
          <p:txBody>
            <a:bodyPr anchor="t" rtlCol="false" tIns="0" lIns="0" bIns="0" rIns="0">
              <a:spAutoFit/>
            </a:bodyPr>
            <a:lstStyle/>
            <a:p>
              <a:pPr algn="just">
                <a:lnSpc>
                  <a:spcPts val="3222"/>
                </a:lnSpc>
              </a:pPr>
              <a:r>
                <a:rPr lang="en-US" sz="2301">
                  <a:solidFill>
                    <a:srgbClr val="01070A"/>
                  </a:solidFill>
                  <a:latin typeface="Inter"/>
                  <a:ea typeface="Inter"/>
                  <a:cs typeface="Inter"/>
                  <a:sym typeface="Inter"/>
                </a:rPr>
                <a:t>L</a:t>
              </a:r>
              <a:r>
                <a:rPr lang="en-US" sz="2301" strike="noStrike" u="none">
                  <a:solidFill>
                    <a:srgbClr val="01070A"/>
                  </a:solidFill>
                  <a:latin typeface="Inter"/>
                  <a:ea typeface="Inter"/>
                  <a:cs typeface="Inter"/>
                  <a:sym typeface="Inter"/>
                </a:rPr>
                <a:t>e passage en maquette haute fidélité donne vie à BookHub en intégrant la charte graphique.</a:t>
              </a:r>
            </a:p>
            <a:p>
              <a:pPr algn="just">
                <a:lnSpc>
                  <a:spcPts val="3222"/>
                </a:lnSpc>
              </a:pPr>
            </a:p>
            <a:p>
              <a:pPr algn="just">
                <a:lnSpc>
                  <a:spcPts val="3222"/>
                </a:lnSpc>
              </a:pPr>
              <a:r>
                <a:rPr lang="en-US" sz="2301" strike="noStrike" u="none">
                  <a:solidFill>
                    <a:srgbClr val="01070A"/>
                  </a:solidFill>
                  <a:latin typeface="Inter"/>
                  <a:ea typeface="Inter"/>
                  <a:cs typeface="Inter"/>
                  <a:sym typeface="Inter"/>
                </a:rPr>
                <a:t>Palette éco-concue : utilisation de tons apaisants (verts forêt et blanc) pour réduire la fatigue visuelle.</a:t>
              </a:r>
            </a:p>
            <a:p>
              <a:pPr algn="just">
                <a:lnSpc>
                  <a:spcPts val="3222"/>
                </a:lnSpc>
              </a:pPr>
            </a:p>
            <a:p>
              <a:pPr algn="just">
                <a:lnSpc>
                  <a:spcPts val="3222"/>
                </a:lnSpc>
              </a:pPr>
              <a:r>
                <a:rPr lang="en-US" sz="2301" strike="noStrike" u="none">
                  <a:solidFill>
                    <a:srgbClr val="01070A"/>
                  </a:solidFill>
                  <a:latin typeface="Inter"/>
                  <a:ea typeface="Inter"/>
                  <a:cs typeface="Inter"/>
                  <a:sym typeface="Inter"/>
                </a:rPr>
                <a:t>Composant UI modernes : intégration d’éléments d’inte</a:t>
              </a:r>
              <a:r>
                <a:rPr lang="en-US" sz="2301" strike="noStrike" u="none">
                  <a:solidFill>
                    <a:srgbClr val="01070A"/>
                  </a:solidFill>
                  <a:latin typeface="Inter"/>
                  <a:ea typeface="Inter"/>
                  <a:cs typeface="Inter"/>
                  <a:sym typeface="Inter"/>
                </a:rPr>
                <a:t>rfa</a:t>
              </a:r>
              <a:r>
                <a:rPr lang="en-US" sz="2301" strike="noStrike" u="none">
                  <a:solidFill>
                    <a:srgbClr val="01070A"/>
                  </a:solidFill>
                  <a:latin typeface="Inter"/>
                  <a:ea typeface="Inter"/>
                  <a:cs typeface="Inter"/>
                  <a:sym typeface="Inter"/>
                </a:rPr>
                <a:t>ce clairs, </a:t>
              </a:r>
              <a:r>
                <a:rPr lang="en-US" sz="2301" strike="noStrike" u="none">
                  <a:solidFill>
                    <a:srgbClr val="01070A"/>
                  </a:solidFill>
                  <a:latin typeface="Inter"/>
                  <a:ea typeface="Inter"/>
                  <a:cs typeface="Inter"/>
                  <a:sym typeface="Inter"/>
                </a:rPr>
                <a:t>constr</a:t>
              </a:r>
              <a:r>
                <a:rPr lang="en-US" sz="2301" strike="noStrike" u="none">
                  <a:solidFill>
                    <a:srgbClr val="01070A"/>
                  </a:solidFill>
                  <a:latin typeface="Inter"/>
                  <a:ea typeface="Inter"/>
                  <a:cs typeface="Inter"/>
                  <a:sym typeface="Inter"/>
                </a:rPr>
                <a:t>a</a:t>
              </a:r>
              <a:r>
                <a:rPr lang="en-US" sz="2301" strike="noStrike" u="none">
                  <a:solidFill>
                    <a:srgbClr val="01070A"/>
                  </a:solidFill>
                  <a:latin typeface="Inter"/>
                  <a:ea typeface="Inter"/>
                  <a:cs typeface="Inter"/>
                  <a:sym typeface="Inter"/>
                </a:rPr>
                <a:t>tés </a:t>
              </a:r>
              <a:r>
                <a:rPr lang="en-US" sz="2301" strike="noStrike" u="none">
                  <a:solidFill>
                    <a:srgbClr val="01070A"/>
                  </a:solidFill>
                  <a:latin typeface="Inter"/>
                  <a:ea typeface="Inter"/>
                  <a:cs typeface="Inter"/>
                  <a:sym typeface="Inter"/>
                </a:rPr>
                <a:t>et responsifs.</a:t>
              </a:r>
            </a:p>
            <a:p>
              <a:pPr algn="just">
                <a:lnSpc>
                  <a:spcPts val="3222"/>
                </a:lnSpc>
              </a:pPr>
            </a:p>
            <a:p>
              <a:pPr algn="just">
                <a:lnSpc>
                  <a:spcPts val="3222"/>
                </a:lnSpc>
              </a:pPr>
              <a:r>
                <a:rPr lang="en-US" sz="2301" strike="noStrike" u="none">
                  <a:solidFill>
                    <a:srgbClr val="01070A"/>
                  </a:solidFill>
                  <a:latin typeface="Inter"/>
                  <a:ea typeface="Inter"/>
                  <a:cs typeface="Inter"/>
                  <a:sym typeface="Inter"/>
                </a:rPr>
                <a:t>Imm</a:t>
              </a:r>
              <a:r>
                <a:rPr lang="en-US" sz="2301" strike="noStrike" u="none">
                  <a:solidFill>
                    <a:srgbClr val="01070A"/>
                  </a:solidFill>
                  <a:latin typeface="Inter"/>
                  <a:ea typeface="Inter"/>
                  <a:cs typeface="Inter"/>
                  <a:sym typeface="Inter"/>
                </a:rPr>
                <a:t>e</a:t>
              </a:r>
              <a:r>
                <a:rPr lang="en-US" sz="2301" strike="noStrike" u="none">
                  <a:solidFill>
                    <a:srgbClr val="01070A"/>
                  </a:solidFill>
                  <a:latin typeface="Inter"/>
                  <a:ea typeface="Inter"/>
                  <a:cs typeface="Inter"/>
                  <a:sym typeface="Inter"/>
                </a:rPr>
                <a:t>rsion</a:t>
              </a:r>
              <a:r>
                <a:rPr lang="en-US" sz="2301" strike="noStrike" u="none">
                  <a:solidFill>
                    <a:srgbClr val="01070A"/>
                  </a:solidFill>
                  <a:latin typeface="Inter"/>
                  <a:ea typeface="Inter"/>
                  <a:cs typeface="Inter"/>
                  <a:sym typeface="Inter"/>
                </a:rPr>
                <a:t> uti</a:t>
              </a:r>
              <a:r>
                <a:rPr lang="en-US" sz="2301" strike="noStrike" u="none">
                  <a:solidFill>
                    <a:srgbClr val="01070A"/>
                  </a:solidFill>
                  <a:latin typeface="Inter"/>
                  <a:ea typeface="Inter"/>
                  <a:cs typeface="Inter"/>
                  <a:sym typeface="Inter"/>
                </a:rPr>
                <a:t>lis</a:t>
              </a:r>
              <a:r>
                <a:rPr lang="en-US" sz="2301" strike="noStrike" u="none">
                  <a:solidFill>
                    <a:srgbClr val="01070A"/>
                  </a:solidFill>
                  <a:latin typeface="Inter"/>
                  <a:ea typeface="Inter"/>
                  <a:cs typeface="Inter"/>
                  <a:sym typeface="Inter"/>
                </a:rPr>
                <a:t>ateur </a:t>
              </a:r>
              <a:r>
                <a:rPr lang="en-US" sz="2301" strike="noStrike" u="none">
                  <a:solidFill>
                    <a:srgbClr val="01070A"/>
                  </a:solidFill>
                  <a:latin typeface="Inter"/>
                  <a:ea typeface="Inter"/>
                  <a:cs typeface="Inter"/>
                  <a:sym typeface="Inter"/>
                </a:rPr>
                <a:t>: l’expérience visuelle reflète les valeurs de l’association</a:t>
              </a:r>
            </a:p>
            <a:p>
              <a:pPr algn="just">
                <a:lnSpc>
                  <a:spcPts val="3222"/>
                </a:lnSpc>
              </a:pPr>
            </a:p>
          </p:txBody>
        </p:sp>
      </p:grpSp>
      <p:sp>
        <p:nvSpPr>
          <p:cNvPr name="Freeform 11" id="11"/>
          <p:cNvSpPr/>
          <p:nvPr/>
        </p:nvSpPr>
        <p:spPr>
          <a:xfrm flipH="false" flipV="false" rot="0">
            <a:off x="251672" y="235942"/>
            <a:ext cx="1360965" cy="1360965"/>
          </a:xfrm>
          <a:custGeom>
            <a:avLst/>
            <a:gdLst/>
            <a:ahLst/>
            <a:cxnLst/>
            <a:rect r="r" b="b" t="t" l="l"/>
            <a:pathLst>
              <a:path h="1360965" w="1360965">
                <a:moveTo>
                  <a:pt x="0" y="0"/>
                </a:moveTo>
                <a:lnTo>
                  <a:pt x="1360965" y="0"/>
                </a:lnTo>
                <a:lnTo>
                  <a:pt x="1360965" y="1360966"/>
                </a:lnTo>
                <a:lnTo>
                  <a:pt x="0" y="1360966"/>
                </a:lnTo>
                <a:lnTo>
                  <a:pt x="0" y="0"/>
                </a:lnTo>
                <a:close/>
              </a:path>
            </a:pathLst>
          </a:custGeom>
          <a:blipFill>
            <a:blip r:embed="rId7"/>
            <a:stretch>
              <a:fillRect l="0" t="0" r="0" b="0"/>
            </a:stretch>
          </a:blipFill>
        </p:spPr>
      </p:sp>
    </p:spTree>
  </p:cSld>
  <p:clrMapOvr>
    <a:masterClrMapping/>
  </p:clrMapOvr>
  <p:transition spd="fast">
    <p:push dir="l"/>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93123">
            <a:off x="2571782" y="1523956"/>
            <a:ext cx="15139745" cy="8388186"/>
            <a:chOff x="0" y="0"/>
            <a:chExt cx="4641653" cy="2571711"/>
          </a:xfrm>
        </p:grpSpPr>
        <p:sp>
          <p:nvSpPr>
            <p:cNvPr name="Freeform 4" id="4"/>
            <p:cNvSpPr/>
            <p:nvPr/>
          </p:nvSpPr>
          <p:spPr>
            <a:xfrm flipH="false" flipV="false" rot="0">
              <a:off x="0" y="0"/>
              <a:ext cx="4641654" cy="2571711"/>
            </a:xfrm>
            <a:custGeom>
              <a:avLst/>
              <a:gdLst/>
              <a:ahLst/>
              <a:cxnLst/>
              <a:rect r="r" b="b" t="t" l="l"/>
              <a:pathLst>
                <a:path h="2571711" w="4641654">
                  <a:moveTo>
                    <a:pt x="13295" y="0"/>
                  </a:moveTo>
                  <a:lnTo>
                    <a:pt x="4628358" y="0"/>
                  </a:lnTo>
                  <a:cubicBezTo>
                    <a:pt x="4631884" y="0"/>
                    <a:pt x="4635266" y="1401"/>
                    <a:pt x="4637759" y="3894"/>
                  </a:cubicBezTo>
                  <a:cubicBezTo>
                    <a:pt x="4640253" y="6388"/>
                    <a:pt x="4641654" y="9769"/>
                    <a:pt x="4641654" y="13295"/>
                  </a:cubicBezTo>
                  <a:lnTo>
                    <a:pt x="4641654" y="2558416"/>
                  </a:lnTo>
                  <a:cubicBezTo>
                    <a:pt x="4641654" y="2561942"/>
                    <a:pt x="4640253" y="2565324"/>
                    <a:pt x="4637759" y="2567817"/>
                  </a:cubicBezTo>
                  <a:cubicBezTo>
                    <a:pt x="4635266" y="2570311"/>
                    <a:pt x="4631884" y="2571711"/>
                    <a:pt x="4628358" y="2571711"/>
                  </a:cubicBezTo>
                  <a:lnTo>
                    <a:pt x="13295" y="2571711"/>
                  </a:lnTo>
                  <a:cubicBezTo>
                    <a:pt x="9769" y="2571711"/>
                    <a:pt x="6388" y="2570311"/>
                    <a:pt x="3894" y="2567817"/>
                  </a:cubicBezTo>
                  <a:cubicBezTo>
                    <a:pt x="1401" y="2565324"/>
                    <a:pt x="0" y="2561942"/>
                    <a:pt x="0" y="2558416"/>
                  </a:cubicBezTo>
                  <a:lnTo>
                    <a:pt x="0" y="13295"/>
                  </a:lnTo>
                  <a:cubicBezTo>
                    <a:pt x="0" y="9769"/>
                    <a:pt x="1401" y="6388"/>
                    <a:pt x="3894" y="3894"/>
                  </a:cubicBezTo>
                  <a:cubicBezTo>
                    <a:pt x="6388" y="1401"/>
                    <a:pt x="9769" y="0"/>
                    <a:pt x="13295" y="0"/>
                  </a:cubicBezTo>
                  <a:close/>
                </a:path>
              </a:pathLst>
            </a:custGeom>
            <a:solidFill>
              <a:srgbClr val="000000">
                <a:alpha val="31765"/>
              </a:srgbClr>
            </a:solidFill>
            <a:ln cap="rnd">
              <a:noFill/>
              <a:prstDash val="solid"/>
              <a:round/>
            </a:ln>
          </p:spPr>
        </p:sp>
        <p:sp>
          <p:nvSpPr>
            <p:cNvPr name="TextBox 5" id="5"/>
            <p:cNvSpPr txBox="true"/>
            <p:nvPr/>
          </p:nvSpPr>
          <p:spPr>
            <a:xfrm>
              <a:off x="0" y="-47625"/>
              <a:ext cx="4641653" cy="2619336"/>
            </a:xfrm>
            <a:prstGeom prst="rect">
              <a:avLst/>
            </a:prstGeom>
          </p:spPr>
          <p:txBody>
            <a:bodyPr anchor="ctr" rtlCol="false" tIns="50800" lIns="50800" bIns="50800" rIns="50800"/>
            <a:lstStyle/>
            <a:p>
              <a:pPr algn="ctr" marL="0" indent="0" lvl="0">
                <a:lnSpc>
                  <a:spcPts val="3210"/>
                </a:lnSpc>
                <a:spcBef>
                  <a:spcPct val="0"/>
                </a:spcBef>
              </a:pPr>
            </a:p>
          </p:txBody>
        </p:sp>
      </p:grpSp>
      <p:grpSp>
        <p:nvGrpSpPr>
          <p:cNvPr name="Group 6" id="6"/>
          <p:cNvGrpSpPr/>
          <p:nvPr/>
        </p:nvGrpSpPr>
        <p:grpSpPr>
          <a:xfrm rot="0">
            <a:off x="1801022" y="594800"/>
            <a:ext cx="15332546" cy="9199372"/>
            <a:chOff x="0" y="0"/>
            <a:chExt cx="4700764" cy="2820411"/>
          </a:xfrm>
        </p:grpSpPr>
        <p:sp>
          <p:nvSpPr>
            <p:cNvPr name="Freeform 7" id="7"/>
            <p:cNvSpPr/>
            <p:nvPr/>
          </p:nvSpPr>
          <p:spPr>
            <a:xfrm flipH="false" flipV="false" rot="0">
              <a:off x="0" y="0"/>
              <a:ext cx="4700764" cy="2820411"/>
            </a:xfrm>
            <a:custGeom>
              <a:avLst/>
              <a:gdLst/>
              <a:ahLst/>
              <a:cxnLst/>
              <a:rect r="r" b="b" t="t" l="l"/>
              <a:pathLst>
                <a:path h="2820411" w="4700764">
                  <a:moveTo>
                    <a:pt x="5554" y="0"/>
                  </a:moveTo>
                  <a:lnTo>
                    <a:pt x="4695210" y="0"/>
                  </a:lnTo>
                  <a:cubicBezTo>
                    <a:pt x="4698277" y="0"/>
                    <a:pt x="4700764" y="2487"/>
                    <a:pt x="4700764" y="5554"/>
                  </a:cubicBezTo>
                  <a:lnTo>
                    <a:pt x="4700764" y="2814856"/>
                  </a:lnTo>
                  <a:cubicBezTo>
                    <a:pt x="4700764" y="2817924"/>
                    <a:pt x="4698277" y="2820411"/>
                    <a:pt x="4695210" y="2820411"/>
                  </a:cubicBezTo>
                  <a:lnTo>
                    <a:pt x="5554" y="2820411"/>
                  </a:lnTo>
                  <a:cubicBezTo>
                    <a:pt x="2487" y="2820411"/>
                    <a:pt x="0" y="2817924"/>
                    <a:pt x="0" y="2814856"/>
                  </a:cubicBezTo>
                  <a:lnTo>
                    <a:pt x="0" y="5554"/>
                  </a:lnTo>
                  <a:cubicBezTo>
                    <a:pt x="0" y="2487"/>
                    <a:pt x="2487" y="0"/>
                    <a:pt x="5554" y="0"/>
                  </a:cubicBezTo>
                  <a:close/>
                </a:path>
              </a:pathLst>
            </a:custGeom>
            <a:solidFill>
              <a:srgbClr val="FFFFFF"/>
            </a:solidFill>
            <a:ln w="38100" cap="sq">
              <a:solidFill>
                <a:srgbClr val="154428"/>
              </a:solidFill>
              <a:prstDash val="solid"/>
              <a:miter/>
            </a:ln>
          </p:spPr>
        </p:sp>
        <p:sp>
          <p:nvSpPr>
            <p:cNvPr name="TextBox 8" id="8"/>
            <p:cNvSpPr txBox="true"/>
            <p:nvPr/>
          </p:nvSpPr>
          <p:spPr>
            <a:xfrm>
              <a:off x="0" y="-47625"/>
              <a:ext cx="4700764" cy="2868036"/>
            </a:xfrm>
            <a:prstGeom prst="rect">
              <a:avLst/>
            </a:prstGeom>
          </p:spPr>
          <p:txBody>
            <a:bodyPr anchor="ctr" rtlCol="false" tIns="50800" lIns="50800" bIns="50800" rIns="50800"/>
            <a:lstStyle/>
            <a:p>
              <a:pPr algn="ctr">
                <a:lnSpc>
                  <a:spcPts val="3210"/>
                </a:lnSpc>
              </a:pPr>
            </a:p>
          </p:txBody>
        </p:sp>
      </p:grpSp>
      <p:sp>
        <p:nvSpPr>
          <p:cNvPr name="TextBox 9" id="9"/>
          <p:cNvSpPr txBox="true"/>
          <p:nvPr/>
        </p:nvSpPr>
        <p:spPr>
          <a:xfrm rot="0">
            <a:off x="2567035" y="716095"/>
            <a:ext cx="5188097" cy="854075"/>
          </a:xfrm>
          <a:prstGeom prst="rect">
            <a:avLst/>
          </a:prstGeom>
        </p:spPr>
        <p:txBody>
          <a:bodyPr anchor="t" rtlCol="false" tIns="0" lIns="0" bIns="0" rIns="0">
            <a:spAutoFit/>
          </a:bodyPr>
          <a:lstStyle/>
          <a:p>
            <a:pPr algn="ctr">
              <a:lnSpc>
                <a:spcPts val="7000"/>
              </a:lnSpc>
              <a:spcBef>
                <a:spcPct val="0"/>
              </a:spcBef>
            </a:pPr>
            <a:r>
              <a:rPr lang="en-US" b="true" sz="5000">
                <a:solidFill>
                  <a:srgbClr val="197237"/>
                </a:solidFill>
                <a:latin typeface="Inter Bold"/>
                <a:ea typeface="Inter Bold"/>
                <a:cs typeface="Inter Bold"/>
                <a:sym typeface="Inter Bold"/>
              </a:rPr>
              <a:t>Les maquettes</a:t>
            </a:r>
          </a:p>
        </p:txBody>
      </p:sp>
      <p:sp>
        <p:nvSpPr>
          <p:cNvPr name="Freeform 10" id="10"/>
          <p:cNvSpPr/>
          <p:nvPr/>
        </p:nvSpPr>
        <p:spPr>
          <a:xfrm flipH="false" flipV="false" rot="0">
            <a:off x="1669787" y="99404"/>
            <a:ext cx="782409" cy="751113"/>
          </a:xfrm>
          <a:custGeom>
            <a:avLst/>
            <a:gdLst/>
            <a:ahLst/>
            <a:cxnLst/>
            <a:rect r="r" b="b" t="t" l="l"/>
            <a:pathLst>
              <a:path h="751113" w="782409">
                <a:moveTo>
                  <a:pt x="0" y="0"/>
                </a:moveTo>
                <a:lnTo>
                  <a:pt x="782409" y="0"/>
                </a:lnTo>
                <a:lnTo>
                  <a:pt x="782409" y="751112"/>
                </a:lnTo>
                <a:lnTo>
                  <a:pt x="0" y="7511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2221757" y="2099344"/>
            <a:ext cx="6780551" cy="3282832"/>
          </a:xfrm>
          <a:custGeom>
            <a:avLst/>
            <a:gdLst/>
            <a:ahLst/>
            <a:cxnLst/>
            <a:rect r="r" b="b" t="t" l="l"/>
            <a:pathLst>
              <a:path h="3282832" w="6780551">
                <a:moveTo>
                  <a:pt x="0" y="0"/>
                </a:moveTo>
                <a:lnTo>
                  <a:pt x="6780550" y="0"/>
                </a:lnTo>
                <a:lnTo>
                  <a:pt x="6780550" y="3282833"/>
                </a:lnTo>
                <a:lnTo>
                  <a:pt x="0" y="3282833"/>
                </a:lnTo>
                <a:lnTo>
                  <a:pt x="0" y="0"/>
                </a:lnTo>
                <a:close/>
              </a:path>
            </a:pathLst>
          </a:custGeom>
          <a:blipFill>
            <a:blip r:embed="rId5"/>
            <a:stretch>
              <a:fillRect l="0" t="0" r="-1659" b="0"/>
            </a:stretch>
          </a:blipFill>
        </p:spPr>
      </p:sp>
      <p:sp>
        <p:nvSpPr>
          <p:cNvPr name="Freeform 12" id="12"/>
          <p:cNvSpPr/>
          <p:nvPr/>
        </p:nvSpPr>
        <p:spPr>
          <a:xfrm flipH="false" flipV="false" rot="0">
            <a:off x="2221757" y="5718049"/>
            <a:ext cx="6780551" cy="3282832"/>
          </a:xfrm>
          <a:custGeom>
            <a:avLst/>
            <a:gdLst/>
            <a:ahLst/>
            <a:cxnLst/>
            <a:rect r="r" b="b" t="t" l="l"/>
            <a:pathLst>
              <a:path h="3282832" w="6780551">
                <a:moveTo>
                  <a:pt x="0" y="0"/>
                </a:moveTo>
                <a:lnTo>
                  <a:pt x="6780550" y="0"/>
                </a:lnTo>
                <a:lnTo>
                  <a:pt x="6780550" y="3282832"/>
                </a:lnTo>
                <a:lnTo>
                  <a:pt x="0" y="3282832"/>
                </a:lnTo>
                <a:lnTo>
                  <a:pt x="0" y="0"/>
                </a:lnTo>
                <a:close/>
              </a:path>
            </a:pathLst>
          </a:custGeom>
          <a:blipFill>
            <a:blip r:embed="rId6"/>
            <a:stretch>
              <a:fillRect l="0" t="0" r="-1659" b="0"/>
            </a:stretch>
          </a:blipFill>
        </p:spPr>
      </p:sp>
      <p:sp>
        <p:nvSpPr>
          <p:cNvPr name="Freeform 13" id="13"/>
          <p:cNvSpPr/>
          <p:nvPr/>
        </p:nvSpPr>
        <p:spPr>
          <a:xfrm flipH="false" flipV="false" rot="0">
            <a:off x="10013096" y="5834200"/>
            <a:ext cx="6780551" cy="3263140"/>
          </a:xfrm>
          <a:custGeom>
            <a:avLst/>
            <a:gdLst/>
            <a:ahLst/>
            <a:cxnLst/>
            <a:rect r="r" b="b" t="t" l="l"/>
            <a:pathLst>
              <a:path h="3263140" w="6780551">
                <a:moveTo>
                  <a:pt x="0" y="0"/>
                </a:moveTo>
                <a:lnTo>
                  <a:pt x="6780551" y="0"/>
                </a:lnTo>
                <a:lnTo>
                  <a:pt x="6780551" y="3263140"/>
                </a:lnTo>
                <a:lnTo>
                  <a:pt x="0" y="3263140"/>
                </a:lnTo>
                <a:lnTo>
                  <a:pt x="0" y="0"/>
                </a:lnTo>
                <a:close/>
              </a:path>
            </a:pathLst>
          </a:custGeom>
          <a:blipFill>
            <a:blip r:embed="rId7"/>
            <a:stretch>
              <a:fillRect l="0" t="0" r="0" b="0"/>
            </a:stretch>
          </a:blipFill>
        </p:spPr>
      </p:sp>
      <p:sp>
        <p:nvSpPr>
          <p:cNvPr name="Freeform 14" id="14"/>
          <p:cNvSpPr/>
          <p:nvPr/>
        </p:nvSpPr>
        <p:spPr>
          <a:xfrm flipH="false" flipV="false" rot="0">
            <a:off x="10013096" y="2099344"/>
            <a:ext cx="6780551" cy="3282832"/>
          </a:xfrm>
          <a:custGeom>
            <a:avLst/>
            <a:gdLst/>
            <a:ahLst/>
            <a:cxnLst/>
            <a:rect r="r" b="b" t="t" l="l"/>
            <a:pathLst>
              <a:path h="3282832" w="6780551">
                <a:moveTo>
                  <a:pt x="0" y="0"/>
                </a:moveTo>
                <a:lnTo>
                  <a:pt x="6780551" y="0"/>
                </a:lnTo>
                <a:lnTo>
                  <a:pt x="6780551" y="3282833"/>
                </a:lnTo>
                <a:lnTo>
                  <a:pt x="0" y="3282833"/>
                </a:lnTo>
                <a:lnTo>
                  <a:pt x="0" y="0"/>
                </a:lnTo>
                <a:close/>
              </a:path>
            </a:pathLst>
          </a:custGeom>
          <a:blipFill>
            <a:blip r:embed="rId8"/>
            <a:stretch>
              <a:fillRect l="0" t="0" r="-1393" b="0"/>
            </a:stretch>
          </a:blipFill>
        </p:spPr>
      </p:sp>
      <p:sp>
        <p:nvSpPr>
          <p:cNvPr name="Freeform 15" id="15"/>
          <p:cNvSpPr/>
          <p:nvPr/>
        </p:nvSpPr>
        <p:spPr>
          <a:xfrm flipH="false" flipV="false" rot="0">
            <a:off x="251672" y="235942"/>
            <a:ext cx="1360965" cy="1360965"/>
          </a:xfrm>
          <a:custGeom>
            <a:avLst/>
            <a:gdLst/>
            <a:ahLst/>
            <a:cxnLst/>
            <a:rect r="r" b="b" t="t" l="l"/>
            <a:pathLst>
              <a:path h="1360965" w="1360965">
                <a:moveTo>
                  <a:pt x="0" y="0"/>
                </a:moveTo>
                <a:lnTo>
                  <a:pt x="1360965" y="0"/>
                </a:lnTo>
                <a:lnTo>
                  <a:pt x="1360965" y="1360966"/>
                </a:lnTo>
                <a:lnTo>
                  <a:pt x="0" y="1360966"/>
                </a:lnTo>
                <a:lnTo>
                  <a:pt x="0" y="0"/>
                </a:lnTo>
                <a:close/>
              </a:path>
            </a:pathLst>
          </a:custGeom>
          <a:blipFill>
            <a:blip r:embed="rId9"/>
            <a:stretch>
              <a:fillRect l="0" t="0" r="0" b="0"/>
            </a:stretch>
          </a:blipFill>
        </p:spPr>
      </p:sp>
    </p:spTree>
  </p:cSld>
  <p:clrMapOvr>
    <a:masterClrMapping/>
  </p:clrMapOvr>
  <p:transition spd="fast">
    <p:push dir="l"/>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sp>
        <p:nvSpPr>
          <p:cNvPr name="Freeform 3" id="3"/>
          <p:cNvSpPr/>
          <p:nvPr/>
        </p:nvSpPr>
        <p:spPr>
          <a:xfrm flipH="false" flipV="false" rot="0">
            <a:off x="-2154839" y="5483634"/>
            <a:ext cx="6367078" cy="5335932"/>
          </a:xfrm>
          <a:custGeom>
            <a:avLst/>
            <a:gdLst/>
            <a:ahLst/>
            <a:cxnLst/>
            <a:rect r="r" b="b" t="t" l="l"/>
            <a:pathLst>
              <a:path h="5335932" w="6367078">
                <a:moveTo>
                  <a:pt x="0" y="0"/>
                </a:moveTo>
                <a:lnTo>
                  <a:pt x="6367078" y="0"/>
                </a:lnTo>
                <a:lnTo>
                  <a:pt x="6367078" y="5335932"/>
                </a:lnTo>
                <a:lnTo>
                  <a:pt x="0" y="533593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76256" y="7189952"/>
            <a:ext cx="5261408" cy="3309904"/>
          </a:xfrm>
          <a:custGeom>
            <a:avLst/>
            <a:gdLst/>
            <a:ahLst/>
            <a:cxnLst/>
            <a:rect r="r" b="b" t="t" l="l"/>
            <a:pathLst>
              <a:path h="3309904" w="5261408">
                <a:moveTo>
                  <a:pt x="0" y="0"/>
                </a:moveTo>
                <a:lnTo>
                  <a:pt x="5261408" y="0"/>
                </a:lnTo>
                <a:lnTo>
                  <a:pt x="5261408" y="3309904"/>
                </a:lnTo>
                <a:lnTo>
                  <a:pt x="0" y="330990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1251949" y="432846"/>
            <a:ext cx="15784103" cy="1077409"/>
          </a:xfrm>
          <a:prstGeom prst="rect">
            <a:avLst/>
          </a:prstGeom>
        </p:spPr>
        <p:txBody>
          <a:bodyPr anchor="t" rtlCol="false" tIns="0" lIns="0" bIns="0" rIns="0">
            <a:spAutoFit/>
          </a:bodyPr>
          <a:lstStyle/>
          <a:p>
            <a:pPr algn="ctr" marL="0" indent="0" lvl="0">
              <a:lnSpc>
                <a:spcPts val="8865"/>
              </a:lnSpc>
              <a:spcBef>
                <a:spcPct val="0"/>
              </a:spcBef>
            </a:pPr>
            <a:r>
              <a:rPr lang="en-US" b="true" sz="6332">
                <a:solidFill>
                  <a:srgbClr val="197237"/>
                </a:solidFill>
                <a:latin typeface="Inter Bold"/>
                <a:ea typeface="Inter Bold"/>
                <a:cs typeface="Inter Bold"/>
                <a:sym typeface="Inter Bold"/>
              </a:rPr>
              <a:t>Modèle Conceptuel des Données</a:t>
            </a:r>
          </a:p>
        </p:txBody>
      </p:sp>
      <p:sp>
        <p:nvSpPr>
          <p:cNvPr name="Freeform 6" id="6"/>
          <p:cNvSpPr/>
          <p:nvPr/>
        </p:nvSpPr>
        <p:spPr>
          <a:xfrm flipH="false" flipV="false" rot="0">
            <a:off x="251672" y="235942"/>
            <a:ext cx="1360965" cy="1360965"/>
          </a:xfrm>
          <a:custGeom>
            <a:avLst/>
            <a:gdLst/>
            <a:ahLst/>
            <a:cxnLst/>
            <a:rect r="r" b="b" t="t" l="l"/>
            <a:pathLst>
              <a:path h="1360965" w="1360965">
                <a:moveTo>
                  <a:pt x="0" y="0"/>
                </a:moveTo>
                <a:lnTo>
                  <a:pt x="1360965" y="0"/>
                </a:lnTo>
                <a:lnTo>
                  <a:pt x="1360965" y="1360966"/>
                </a:lnTo>
                <a:lnTo>
                  <a:pt x="0" y="1360966"/>
                </a:lnTo>
                <a:lnTo>
                  <a:pt x="0" y="0"/>
                </a:lnTo>
                <a:close/>
              </a:path>
            </a:pathLst>
          </a:custGeom>
          <a:blipFill>
            <a:blip r:embed="rId7"/>
            <a:stretch>
              <a:fillRect l="0" t="0" r="0" b="0"/>
            </a:stretch>
          </a:blipFill>
        </p:spPr>
      </p:sp>
      <p:sp>
        <p:nvSpPr>
          <p:cNvPr name="Freeform 7" id="7"/>
          <p:cNvSpPr/>
          <p:nvPr/>
        </p:nvSpPr>
        <p:spPr>
          <a:xfrm flipH="false" flipV="false" rot="0">
            <a:off x="1573107" y="1920860"/>
            <a:ext cx="15141787" cy="7125547"/>
          </a:xfrm>
          <a:custGeom>
            <a:avLst/>
            <a:gdLst/>
            <a:ahLst/>
            <a:cxnLst/>
            <a:rect r="r" b="b" t="t" l="l"/>
            <a:pathLst>
              <a:path h="7125547" w="15141787">
                <a:moveTo>
                  <a:pt x="0" y="0"/>
                </a:moveTo>
                <a:lnTo>
                  <a:pt x="15141786" y="0"/>
                </a:lnTo>
                <a:lnTo>
                  <a:pt x="15141786" y="7125547"/>
                </a:lnTo>
                <a:lnTo>
                  <a:pt x="0" y="7125547"/>
                </a:lnTo>
                <a:lnTo>
                  <a:pt x="0" y="0"/>
                </a:lnTo>
                <a:close/>
              </a:path>
            </a:pathLst>
          </a:custGeom>
          <a:blipFill>
            <a:blip r:embed="rId8"/>
            <a:stretch>
              <a:fillRect l="0" t="0" r="0" b="0"/>
            </a:stretch>
          </a:blipFill>
          <a:ln w="38100" cap="rnd">
            <a:solidFill>
              <a:srgbClr val="154428"/>
            </a:solidFill>
            <a:prstDash val="solid"/>
            <a:round/>
          </a:ln>
        </p:spPr>
      </p:sp>
    </p:spTree>
  </p:cSld>
  <p:clrMapOvr>
    <a:masterClrMapping/>
  </p:clrMapOvr>
  <p:transition spd="fast">
    <p:push dir="l"/>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sp>
        <p:nvSpPr>
          <p:cNvPr name="TextBox 3" id="3"/>
          <p:cNvSpPr txBox="true"/>
          <p:nvPr/>
        </p:nvSpPr>
        <p:spPr>
          <a:xfrm rot="0">
            <a:off x="1251949" y="432846"/>
            <a:ext cx="15784103" cy="1077409"/>
          </a:xfrm>
          <a:prstGeom prst="rect">
            <a:avLst/>
          </a:prstGeom>
        </p:spPr>
        <p:txBody>
          <a:bodyPr anchor="t" rtlCol="false" tIns="0" lIns="0" bIns="0" rIns="0">
            <a:spAutoFit/>
          </a:bodyPr>
          <a:lstStyle/>
          <a:p>
            <a:pPr algn="ctr" marL="0" indent="0" lvl="0">
              <a:lnSpc>
                <a:spcPts val="8865"/>
              </a:lnSpc>
              <a:spcBef>
                <a:spcPct val="0"/>
              </a:spcBef>
            </a:pPr>
            <a:r>
              <a:rPr lang="en-US" b="true" sz="6332">
                <a:solidFill>
                  <a:srgbClr val="197237"/>
                </a:solidFill>
                <a:latin typeface="Inter Bold"/>
                <a:ea typeface="Inter Bold"/>
                <a:cs typeface="Inter Bold"/>
                <a:sym typeface="Inter Bold"/>
              </a:rPr>
              <a:t>Modèle Conceptuel des Données</a:t>
            </a:r>
          </a:p>
        </p:txBody>
      </p:sp>
      <p:sp>
        <p:nvSpPr>
          <p:cNvPr name="Freeform 4" id="4"/>
          <p:cNvSpPr/>
          <p:nvPr/>
        </p:nvSpPr>
        <p:spPr>
          <a:xfrm flipH="false" flipV="false" rot="0">
            <a:off x="251672" y="235942"/>
            <a:ext cx="1360965" cy="1360965"/>
          </a:xfrm>
          <a:custGeom>
            <a:avLst/>
            <a:gdLst/>
            <a:ahLst/>
            <a:cxnLst/>
            <a:rect r="r" b="b" t="t" l="l"/>
            <a:pathLst>
              <a:path h="1360965" w="1360965">
                <a:moveTo>
                  <a:pt x="0" y="0"/>
                </a:moveTo>
                <a:lnTo>
                  <a:pt x="1360965" y="0"/>
                </a:lnTo>
                <a:lnTo>
                  <a:pt x="1360965" y="1360966"/>
                </a:lnTo>
                <a:lnTo>
                  <a:pt x="0" y="1360966"/>
                </a:lnTo>
                <a:lnTo>
                  <a:pt x="0" y="0"/>
                </a:lnTo>
                <a:close/>
              </a:path>
            </a:pathLst>
          </a:custGeom>
          <a:blipFill>
            <a:blip r:embed="rId3"/>
            <a:stretch>
              <a:fillRect l="0" t="0" r="0" b="0"/>
            </a:stretch>
          </a:blipFill>
        </p:spPr>
      </p:sp>
    </p:spTree>
  </p:cSld>
  <p:clrMapOvr>
    <a:masterClrMapping/>
  </p:clrMapOvr>
  <p:transition spd="fast">
    <p:push dir="l"/>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98476" y="-505627"/>
            <a:ext cx="18213024" cy="10698506"/>
            <a:chOff x="0" y="0"/>
            <a:chExt cx="24284032" cy="14264675"/>
          </a:xfrm>
        </p:grpSpPr>
        <p:grpSp>
          <p:nvGrpSpPr>
            <p:cNvPr name="Group 4" id="4"/>
            <p:cNvGrpSpPr/>
            <p:nvPr/>
          </p:nvGrpSpPr>
          <p:grpSpPr>
            <a:xfrm rot="0">
              <a:off x="1423308" y="2964382"/>
              <a:ext cx="17305355" cy="10800245"/>
              <a:chOff x="0" y="0"/>
              <a:chExt cx="3625162" cy="2262458"/>
            </a:xfrm>
          </p:grpSpPr>
          <p:sp>
            <p:nvSpPr>
              <p:cNvPr name="Freeform 5" id="5"/>
              <p:cNvSpPr/>
              <p:nvPr/>
            </p:nvSpPr>
            <p:spPr>
              <a:xfrm flipH="false" flipV="false" rot="0">
                <a:off x="0" y="0"/>
                <a:ext cx="3625162" cy="2262458"/>
              </a:xfrm>
              <a:custGeom>
                <a:avLst/>
                <a:gdLst/>
                <a:ahLst/>
                <a:cxnLst/>
                <a:rect r="r" b="b" t="t" l="l"/>
                <a:pathLst>
                  <a:path h="2262458" w="3625162">
                    <a:moveTo>
                      <a:pt x="7202" y="0"/>
                    </a:moveTo>
                    <a:lnTo>
                      <a:pt x="3617959" y="0"/>
                    </a:lnTo>
                    <a:cubicBezTo>
                      <a:pt x="3619870" y="0"/>
                      <a:pt x="3621701" y="759"/>
                      <a:pt x="3623052" y="2109"/>
                    </a:cubicBezTo>
                    <a:cubicBezTo>
                      <a:pt x="3624403" y="3460"/>
                      <a:pt x="3625162" y="5292"/>
                      <a:pt x="3625162" y="7202"/>
                    </a:cubicBezTo>
                    <a:lnTo>
                      <a:pt x="3625162" y="2255256"/>
                    </a:lnTo>
                    <a:cubicBezTo>
                      <a:pt x="3625162" y="2257166"/>
                      <a:pt x="3624403" y="2258998"/>
                      <a:pt x="3623052" y="2260348"/>
                    </a:cubicBezTo>
                    <a:cubicBezTo>
                      <a:pt x="3621701" y="2261699"/>
                      <a:pt x="3619870" y="2262458"/>
                      <a:pt x="3617959" y="2262458"/>
                    </a:cubicBezTo>
                    <a:lnTo>
                      <a:pt x="7202" y="2262458"/>
                    </a:lnTo>
                    <a:cubicBezTo>
                      <a:pt x="5292" y="2262458"/>
                      <a:pt x="3460" y="2261699"/>
                      <a:pt x="2109" y="2260348"/>
                    </a:cubicBezTo>
                    <a:cubicBezTo>
                      <a:pt x="759" y="2258998"/>
                      <a:pt x="0" y="2257166"/>
                      <a:pt x="0" y="2255256"/>
                    </a:cubicBezTo>
                    <a:lnTo>
                      <a:pt x="0" y="7202"/>
                    </a:lnTo>
                    <a:cubicBezTo>
                      <a:pt x="0" y="5292"/>
                      <a:pt x="759" y="3460"/>
                      <a:pt x="2109" y="2109"/>
                    </a:cubicBezTo>
                    <a:cubicBezTo>
                      <a:pt x="3460" y="759"/>
                      <a:pt x="5292" y="0"/>
                      <a:pt x="7202" y="0"/>
                    </a:cubicBezTo>
                    <a:close/>
                  </a:path>
                </a:pathLst>
              </a:custGeom>
              <a:solidFill>
                <a:srgbClr val="FFFFFF"/>
              </a:solidFill>
              <a:ln w="38100" cap="sq">
                <a:solidFill>
                  <a:srgbClr val="154428"/>
                </a:solidFill>
                <a:prstDash val="solid"/>
                <a:miter/>
              </a:ln>
            </p:spPr>
          </p:sp>
          <p:sp>
            <p:nvSpPr>
              <p:cNvPr name="TextBox 6" id="6"/>
              <p:cNvSpPr txBox="true"/>
              <p:nvPr/>
            </p:nvSpPr>
            <p:spPr>
              <a:xfrm>
                <a:off x="0" y="-47625"/>
                <a:ext cx="3625162" cy="2310083"/>
              </a:xfrm>
              <a:prstGeom prst="rect">
                <a:avLst/>
              </a:prstGeom>
            </p:spPr>
            <p:txBody>
              <a:bodyPr anchor="ctr" rtlCol="false" tIns="50800" lIns="50800" bIns="50800" rIns="50800"/>
              <a:lstStyle/>
              <a:p>
                <a:pPr algn="ctr">
                  <a:lnSpc>
                    <a:spcPts val="3210"/>
                  </a:lnSpc>
                </a:pPr>
              </a:p>
            </p:txBody>
          </p:sp>
        </p:grpSp>
        <p:sp>
          <p:nvSpPr>
            <p:cNvPr name="Freeform 7" id="7"/>
            <p:cNvSpPr/>
            <p:nvPr/>
          </p:nvSpPr>
          <p:spPr>
            <a:xfrm flipH="false" flipV="false" rot="0">
              <a:off x="0" y="9592367"/>
              <a:ext cx="5245491" cy="4672308"/>
            </a:xfrm>
            <a:custGeom>
              <a:avLst/>
              <a:gdLst/>
              <a:ahLst/>
              <a:cxnLst/>
              <a:rect r="r" b="b" t="t" l="l"/>
              <a:pathLst>
                <a:path h="4672308" w="5245491">
                  <a:moveTo>
                    <a:pt x="0" y="0"/>
                  </a:moveTo>
                  <a:lnTo>
                    <a:pt x="5245491" y="0"/>
                  </a:lnTo>
                  <a:lnTo>
                    <a:pt x="5245491" y="4672308"/>
                  </a:lnTo>
                  <a:lnTo>
                    <a:pt x="0" y="46723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1437982">
              <a:off x="18957836" y="748374"/>
              <a:ext cx="4625445" cy="4432018"/>
            </a:xfrm>
            <a:custGeom>
              <a:avLst/>
              <a:gdLst/>
              <a:ahLst/>
              <a:cxnLst/>
              <a:rect r="r" b="b" t="t" l="l"/>
              <a:pathLst>
                <a:path h="4432018" w="4625445">
                  <a:moveTo>
                    <a:pt x="0" y="0"/>
                  </a:moveTo>
                  <a:lnTo>
                    <a:pt x="4625446" y="0"/>
                  </a:lnTo>
                  <a:lnTo>
                    <a:pt x="4625446" y="4432017"/>
                  </a:lnTo>
                  <a:lnTo>
                    <a:pt x="0" y="443201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8251680" y="3560209"/>
              <a:ext cx="7970477" cy="1298816"/>
            </a:xfrm>
            <a:prstGeom prst="rect">
              <a:avLst/>
            </a:prstGeom>
          </p:spPr>
          <p:txBody>
            <a:bodyPr anchor="t" rtlCol="false" tIns="0" lIns="0" bIns="0" rIns="0">
              <a:spAutoFit/>
            </a:bodyPr>
            <a:lstStyle/>
            <a:p>
              <a:pPr algn="ctr" marL="0" indent="0" lvl="0">
                <a:lnSpc>
                  <a:spcPts val="8267"/>
                </a:lnSpc>
                <a:spcBef>
                  <a:spcPct val="0"/>
                </a:spcBef>
              </a:pPr>
              <a:r>
                <a:rPr lang="en-US" b="true" sz="5905">
                  <a:solidFill>
                    <a:srgbClr val="197237"/>
                  </a:solidFill>
                  <a:latin typeface="Inter Bold"/>
                  <a:ea typeface="Inter Bold"/>
                  <a:cs typeface="Inter Bold"/>
                  <a:sym typeface="Inter Bold"/>
                </a:rPr>
                <a:t>Les maquettes</a:t>
              </a:r>
            </a:p>
          </p:txBody>
        </p:sp>
        <p:sp>
          <p:nvSpPr>
            <p:cNvPr name="TextBox 10" id="10"/>
            <p:cNvSpPr txBox="true"/>
            <p:nvPr/>
          </p:nvSpPr>
          <p:spPr>
            <a:xfrm rot="0">
              <a:off x="7277636" y="5785722"/>
              <a:ext cx="10682016" cy="6824599"/>
            </a:xfrm>
            <a:prstGeom prst="rect">
              <a:avLst/>
            </a:prstGeom>
          </p:spPr>
          <p:txBody>
            <a:bodyPr anchor="t" rtlCol="false" tIns="0" lIns="0" bIns="0" rIns="0">
              <a:spAutoFit/>
            </a:bodyPr>
            <a:lstStyle/>
            <a:p>
              <a:pPr algn="just">
                <a:lnSpc>
                  <a:spcPts val="3375"/>
                </a:lnSpc>
              </a:pPr>
              <a:r>
                <a:rPr lang="en-US" sz="2411">
                  <a:solidFill>
                    <a:srgbClr val="01070A"/>
                  </a:solidFill>
                  <a:latin typeface="Inter"/>
                  <a:ea typeface="Inter"/>
                  <a:cs typeface="Inter"/>
                  <a:sym typeface="Inter"/>
                </a:rPr>
                <a:t>L</a:t>
              </a:r>
              <a:r>
                <a:rPr lang="en-US" sz="2411" strike="noStrike" u="none">
                  <a:solidFill>
                    <a:srgbClr val="01070A"/>
                  </a:solidFill>
                  <a:latin typeface="Inter"/>
                  <a:ea typeface="Inter"/>
                  <a:cs typeface="Inter"/>
                  <a:sym typeface="Inter"/>
                </a:rPr>
                <a:t>e passage en maquette haute fidélité donne vie à BookHub en intégrant la charte graphique.</a:t>
              </a:r>
            </a:p>
            <a:p>
              <a:pPr algn="just">
                <a:lnSpc>
                  <a:spcPts val="3375"/>
                </a:lnSpc>
              </a:pPr>
            </a:p>
            <a:p>
              <a:pPr algn="just">
                <a:lnSpc>
                  <a:spcPts val="3375"/>
                </a:lnSpc>
              </a:pPr>
              <a:r>
                <a:rPr lang="en-US" sz="2411" strike="noStrike" u="none">
                  <a:solidFill>
                    <a:srgbClr val="01070A"/>
                  </a:solidFill>
                  <a:latin typeface="Inter"/>
                  <a:ea typeface="Inter"/>
                  <a:cs typeface="Inter"/>
                  <a:sym typeface="Inter"/>
                </a:rPr>
                <a:t>Palette éco-concue : utilisation de tons apaisants (verts forêt et blanc) pour réduire la fatigue visuelle.</a:t>
              </a:r>
            </a:p>
            <a:p>
              <a:pPr algn="just">
                <a:lnSpc>
                  <a:spcPts val="3375"/>
                </a:lnSpc>
              </a:pPr>
            </a:p>
            <a:p>
              <a:pPr algn="just">
                <a:lnSpc>
                  <a:spcPts val="3375"/>
                </a:lnSpc>
              </a:pPr>
              <a:r>
                <a:rPr lang="en-US" sz="2411" strike="noStrike" u="none">
                  <a:solidFill>
                    <a:srgbClr val="01070A"/>
                  </a:solidFill>
                  <a:latin typeface="Inter"/>
                  <a:ea typeface="Inter"/>
                  <a:cs typeface="Inter"/>
                  <a:sym typeface="Inter"/>
                </a:rPr>
                <a:t>Composant UI modernes : intégration d’éléments d’inte</a:t>
              </a:r>
              <a:r>
                <a:rPr lang="en-US" sz="2411" strike="noStrike" u="none">
                  <a:solidFill>
                    <a:srgbClr val="01070A"/>
                  </a:solidFill>
                  <a:latin typeface="Inter"/>
                  <a:ea typeface="Inter"/>
                  <a:cs typeface="Inter"/>
                  <a:sym typeface="Inter"/>
                </a:rPr>
                <a:t>rfa</a:t>
              </a:r>
              <a:r>
                <a:rPr lang="en-US" sz="2411" strike="noStrike" u="none">
                  <a:solidFill>
                    <a:srgbClr val="01070A"/>
                  </a:solidFill>
                  <a:latin typeface="Inter"/>
                  <a:ea typeface="Inter"/>
                  <a:cs typeface="Inter"/>
                  <a:sym typeface="Inter"/>
                </a:rPr>
                <a:t>ce clairs, </a:t>
              </a:r>
              <a:r>
                <a:rPr lang="en-US" sz="2411" strike="noStrike" u="none">
                  <a:solidFill>
                    <a:srgbClr val="01070A"/>
                  </a:solidFill>
                  <a:latin typeface="Inter"/>
                  <a:ea typeface="Inter"/>
                  <a:cs typeface="Inter"/>
                  <a:sym typeface="Inter"/>
                </a:rPr>
                <a:t>constr</a:t>
              </a:r>
              <a:r>
                <a:rPr lang="en-US" sz="2411" strike="noStrike" u="none">
                  <a:solidFill>
                    <a:srgbClr val="01070A"/>
                  </a:solidFill>
                  <a:latin typeface="Inter"/>
                  <a:ea typeface="Inter"/>
                  <a:cs typeface="Inter"/>
                  <a:sym typeface="Inter"/>
                </a:rPr>
                <a:t>a</a:t>
              </a:r>
              <a:r>
                <a:rPr lang="en-US" sz="2411" strike="noStrike" u="none">
                  <a:solidFill>
                    <a:srgbClr val="01070A"/>
                  </a:solidFill>
                  <a:latin typeface="Inter"/>
                  <a:ea typeface="Inter"/>
                  <a:cs typeface="Inter"/>
                  <a:sym typeface="Inter"/>
                </a:rPr>
                <a:t>tés </a:t>
              </a:r>
              <a:r>
                <a:rPr lang="en-US" sz="2411" strike="noStrike" u="none">
                  <a:solidFill>
                    <a:srgbClr val="01070A"/>
                  </a:solidFill>
                  <a:latin typeface="Inter"/>
                  <a:ea typeface="Inter"/>
                  <a:cs typeface="Inter"/>
                  <a:sym typeface="Inter"/>
                </a:rPr>
                <a:t>et responsifs.</a:t>
              </a:r>
            </a:p>
            <a:p>
              <a:pPr algn="just">
                <a:lnSpc>
                  <a:spcPts val="3375"/>
                </a:lnSpc>
              </a:pPr>
            </a:p>
            <a:p>
              <a:pPr algn="just">
                <a:lnSpc>
                  <a:spcPts val="3375"/>
                </a:lnSpc>
              </a:pPr>
              <a:r>
                <a:rPr lang="en-US" sz="2411" strike="noStrike" u="none">
                  <a:solidFill>
                    <a:srgbClr val="01070A"/>
                  </a:solidFill>
                  <a:latin typeface="Inter"/>
                  <a:ea typeface="Inter"/>
                  <a:cs typeface="Inter"/>
                  <a:sym typeface="Inter"/>
                </a:rPr>
                <a:t>Imm</a:t>
              </a:r>
              <a:r>
                <a:rPr lang="en-US" sz="2411" strike="noStrike" u="none">
                  <a:solidFill>
                    <a:srgbClr val="01070A"/>
                  </a:solidFill>
                  <a:latin typeface="Inter"/>
                  <a:ea typeface="Inter"/>
                  <a:cs typeface="Inter"/>
                  <a:sym typeface="Inter"/>
                </a:rPr>
                <a:t>e</a:t>
              </a:r>
              <a:r>
                <a:rPr lang="en-US" sz="2411" strike="noStrike" u="none">
                  <a:solidFill>
                    <a:srgbClr val="01070A"/>
                  </a:solidFill>
                  <a:latin typeface="Inter"/>
                  <a:ea typeface="Inter"/>
                  <a:cs typeface="Inter"/>
                  <a:sym typeface="Inter"/>
                </a:rPr>
                <a:t>rsion</a:t>
              </a:r>
              <a:r>
                <a:rPr lang="en-US" sz="2411" strike="noStrike" u="none">
                  <a:solidFill>
                    <a:srgbClr val="01070A"/>
                  </a:solidFill>
                  <a:latin typeface="Inter"/>
                  <a:ea typeface="Inter"/>
                  <a:cs typeface="Inter"/>
                  <a:sym typeface="Inter"/>
                </a:rPr>
                <a:t> uti</a:t>
              </a:r>
              <a:r>
                <a:rPr lang="en-US" sz="2411" strike="noStrike" u="none">
                  <a:solidFill>
                    <a:srgbClr val="01070A"/>
                  </a:solidFill>
                  <a:latin typeface="Inter"/>
                  <a:ea typeface="Inter"/>
                  <a:cs typeface="Inter"/>
                  <a:sym typeface="Inter"/>
                </a:rPr>
                <a:t>lis</a:t>
              </a:r>
              <a:r>
                <a:rPr lang="en-US" sz="2411" strike="noStrike" u="none">
                  <a:solidFill>
                    <a:srgbClr val="01070A"/>
                  </a:solidFill>
                  <a:latin typeface="Inter"/>
                  <a:ea typeface="Inter"/>
                  <a:cs typeface="Inter"/>
                  <a:sym typeface="Inter"/>
                </a:rPr>
                <a:t>ateur </a:t>
              </a:r>
              <a:r>
                <a:rPr lang="en-US" sz="2411" strike="noStrike" u="none">
                  <a:solidFill>
                    <a:srgbClr val="01070A"/>
                  </a:solidFill>
                  <a:latin typeface="Inter"/>
                  <a:ea typeface="Inter"/>
                  <a:cs typeface="Inter"/>
                  <a:sym typeface="Inter"/>
                </a:rPr>
                <a:t>: l’expérience visuelle reflète les valeurs de l’association</a:t>
              </a:r>
            </a:p>
            <a:p>
              <a:pPr algn="just">
                <a:lnSpc>
                  <a:spcPts val="3375"/>
                </a:lnSpc>
              </a:pPr>
            </a:p>
          </p:txBody>
        </p:sp>
      </p:grpSp>
      <p:sp>
        <p:nvSpPr>
          <p:cNvPr name="Freeform 11" id="11"/>
          <p:cNvSpPr/>
          <p:nvPr/>
        </p:nvSpPr>
        <p:spPr>
          <a:xfrm flipH="false" flipV="false" rot="0">
            <a:off x="251672" y="235942"/>
            <a:ext cx="1360965" cy="1360965"/>
          </a:xfrm>
          <a:custGeom>
            <a:avLst/>
            <a:gdLst/>
            <a:ahLst/>
            <a:cxnLst/>
            <a:rect r="r" b="b" t="t" l="l"/>
            <a:pathLst>
              <a:path h="1360965" w="1360965">
                <a:moveTo>
                  <a:pt x="0" y="0"/>
                </a:moveTo>
                <a:lnTo>
                  <a:pt x="1360965" y="0"/>
                </a:lnTo>
                <a:lnTo>
                  <a:pt x="1360965" y="1360966"/>
                </a:lnTo>
                <a:lnTo>
                  <a:pt x="0" y="1360966"/>
                </a:lnTo>
                <a:lnTo>
                  <a:pt x="0" y="0"/>
                </a:lnTo>
                <a:close/>
              </a:path>
            </a:pathLst>
          </a:custGeom>
          <a:blipFill>
            <a:blip r:embed="rId7"/>
            <a:stretch>
              <a:fillRect l="0" t="0" r="0" b="0"/>
            </a:stretch>
          </a:blipFill>
        </p:spPr>
      </p:sp>
    </p:spTree>
  </p:cSld>
  <p:clrMapOvr>
    <a:masterClrMapping/>
  </p:clrMapOvr>
  <p:transition spd="fast">
    <p:push dir="l"/>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sp>
        <p:nvSpPr>
          <p:cNvPr name="Freeform 3" id="3"/>
          <p:cNvSpPr/>
          <p:nvPr/>
        </p:nvSpPr>
        <p:spPr>
          <a:xfrm flipH="false" flipV="false" rot="0">
            <a:off x="-863001" y="7012197"/>
            <a:ext cx="5939287" cy="4114800"/>
          </a:xfrm>
          <a:custGeom>
            <a:avLst/>
            <a:gdLst/>
            <a:ahLst/>
            <a:cxnLst/>
            <a:rect r="r" b="b" t="t" l="l"/>
            <a:pathLst>
              <a:path h="4114800" w="5939287">
                <a:moveTo>
                  <a:pt x="0" y="0"/>
                </a:moveTo>
                <a:lnTo>
                  <a:pt x="5939287" y="0"/>
                </a:lnTo>
                <a:lnTo>
                  <a:pt x="5939287"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380623" y="1285974"/>
            <a:ext cx="11526753" cy="8745924"/>
          </a:xfrm>
          <a:custGeom>
            <a:avLst/>
            <a:gdLst/>
            <a:ahLst/>
            <a:cxnLst/>
            <a:rect r="r" b="b" t="t" l="l"/>
            <a:pathLst>
              <a:path h="8745924" w="11526753">
                <a:moveTo>
                  <a:pt x="0" y="0"/>
                </a:moveTo>
                <a:lnTo>
                  <a:pt x="11526754" y="0"/>
                </a:lnTo>
                <a:lnTo>
                  <a:pt x="11526754" y="8745924"/>
                </a:lnTo>
                <a:lnTo>
                  <a:pt x="0" y="8745924"/>
                </a:lnTo>
                <a:lnTo>
                  <a:pt x="0" y="0"/>
                </a:lnTo>
                <a:close/>
              </a:path>
            </a:pathLst>
          </a:custGeom>
          <a:blipFill>
            <a:blip r:embed="rId5"/>
            <a:stretch>
              <a:fillRect l="0" t="0" r="0" b="0"/>
            </a:stretch>
          </a:blipFill>
          <a:ln w="38100" cap="rnd">
            <a:solidFill>
              <a:srgbClr val="154428"/>
            </a:solidFill>
            <a:prstDash val="solid"/>
            <a:round/>
          </a:ln>
        </p:spPr>
      </p:sp>
      <p:sp>
        <p:nvSpPr>
          <p:cNvPr name="TextBox 5" id="5"/>
          <p:cNvSpPr txBox="true"/>
          <p:nvPr/>
        </p:nvSpPr>
        <p:spPr>
          <a:xfrm rot="0">
            <a:off x="1251949" y="88948"/>
            <a:ext cx="15784103" cy="1077409"/>
          </a:xfrm>
          <a:prstGeom prst="rect">
            <a:avLst/>
          </a:prstGeom>
        </p:spPr>
        <p:txBody>
          <a:bodyPr anchor="t" rtlCol="false" tIns="0" lIns="0" bIns="0" rIns="0">
            <a:spAutoFit/>
          </a:bodyPr>
          <a:lstStyle/>
          <a:p>
            <a:pPr algn="ctr" marL="0" indent="0" lvl="0">
              <a:lnSpc>
                <a:spcPts val="8865"/>
              </a:lnSpc>
              <a:spcBef>
                <a:spcPct val="0"/>
              </a:spcBef>
            </a:pPr>
            <a:r>
              <a:rPr lang="en-US" b="true" sz="6332">
                <a:solidFill>
                  <a:srgbClr val="197237"/>
                </a:solidFill>
                <a:latin typeface="Inter Bold"/>
                <a:ea typeface="Inter Bold"/>
                <a:cs typeface="Inter Bold"/>
                <a:sym typeface="Inter Bold"/>
              </a:rPr>
              <a:t>Diagramme de Classes</a:t>
            </a:r>
          </a:p>
        </p:txBody>
      </p:sp>
      <p:sp>
        <p:nvSpPr>
          <p:cNvPr name="Freeform 6" id="6"/>
          <p:cNvSpPr/>
          <p:nvPr/>
        </p:nvSpPr>
        <p:spPr>
          <a:xfrm flipH="false" flipV="false" rot="0">
            <a:off x="251672" y="235942"/>
            <a:ext cx="1360965" cy="1360965"/>
          </a:xfrm>
          <a:custGeom>
            <a:avLst/>
            <a:gdLst/>
            <a:ahLst/>
            <a:cxnLst/>
            <a:rect r="r" b="b" t="t" l="l"/>
            <a:pathLst>
              <a:path h="1360965" w="1360965">
                <a:moveTo>
                  <a:pt x="0" y="0"/>
                </a:moveTo>
                <a:lnTo>
                  <a:pt x="1360965" y="0"/>
                </a:lnTo>
                <a:lnTo>
                  <a:pt x="1360965" y="1360966"/>
                </a:lnTo>
                <a:lnTo>
                  <a:pt x="0" y="1360966"/>
                </a:lnTo>
                <a:lnTo>
                  <a:pt x="0" y="0"/>
                </a:lnTo>
                <a:close/>
              </a:path>
            </a:pathLst>
          </a:custGeom>
          <a:blipFill>
            <a:blip r:embed="rId6"/>
            <a:stretch>
              <a:fillRect l="0" t="0" r="0" b="0"/>
            </a:stretch>
          </a:blipFill>
        </p:spPr>
      </p:sp>
    </p:spTree>
  </p:cSld>
  <p:clrMapOvr>
    <a:masterClrMapping/>
  </p:clrMapOvr>
  <p:transition spd="fast">
    <p:push dir="l"/>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sp>
        <p:nvSpPr>
          <p:cNvPr name="Freeform 3" id="3"/>
          <p:cNvSpPr/>
          <p:nvPr/>
        </p:nvSpPr>
        <p:spPr>
          <a:xfrm flipH="false" flipV="false" rot="0">
            <a:off x="-863001" y="7012197"/>
            <a:ext cx="5939287" cy="4114800"/>
          </a:xfrm>
          <a:custGeom>
            <a:avLst/>
            <a:gdLst/>
            <a:ahLst/>
            <a:cxnLst/>
            <a:rect r="r" b="b" t="t" l="l"/>
            <a:pathLst>
              <a:path h="4114800" w="5939287">
                <a:moveTo>
                  <a:pt x="0" y="0"/>
                </a:moveTo>
                <a:lnTo>
                  <a:pt x="5939287" y="0"/>
                </a:lnTo>
                <a:lnTo>
                  <a:pt x="5939287"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380623" y="1285974"/>
            <a:ext cx="11526753" cy="8745924"/>
          </a:xfrm>
          <a:custGeom>
            <a:avLst/>
            <a:gdLst/>
            <a:ahLst/>
            <a:cxnLst/>
            <a:rect r="r" b="b" t="t" l="l"/>
            <a:pathLst>
              <a:path h="8745924" w="11526753">
                <a:moveTo>
                  <a:pt x="0" y="0"/>
                </a:moveTo>
                <a:lnTo>
                  <a:pt x="11526754" y="0"/>
                </a:lnTo>
                <a:lnTo>
                  <a:pt x="11526754" y="8745924"/>
                </a:lnTo>
                <a:lnTo>
                  <a:pt x="0" y="8745924"/>
                </a:lnTo>
                <a:lnTo>
                  <a:pt x="0" y="0"/>
                </a:lnTo>
                <a:close/>
              </a:path>
            </a:pathLst>
          </a:custGeom>
          <a:blipFill>
            <a:blip r:embed="rId5"/>
            <a:stretch>
              <a:fillRect l="0" t="0" r="0" b="0"/>
            </a:stretch>
          </a:blipFill>
          <a:ln w="38100" cap="rnd">
            <a:solidFill>
              <a:srgbClr val="154428"/>
            </a:solidFill>
            <a:prstDash val="solid"/>
            <a:round/>
          </a:ln>
        </p:spPr>
      </p:sp>
      <p:sp>
        <p:nvSpPr>
          <p:cNvPr name="TextBox 5" id="5"/>
          <p:cNvSpPr txBox="true"/>
          <p:nvPr/>
        </p:nvSpPr>
        <p:spPr>
          <a:xfrm rot="0">
            <a:off x="1251949" y="88948"/>
            <a:ext cx="15784103" cy="1077409"/>
          </a:xfrm>
          <a:prstGeom prst="rect">
            <a:avLst/>
          </a:prstGeom>
        </p:spPr>
        <p:txBody>
          <a:bodyPr anchor="t" rtlCol="false" tIns="0" lIns="0" bIns="0" rIns="0">
            <a:spAutoFit/>
          </a:bodyPr>
          <a:lstStyle/>
          <a:p>
            <a:pPr algn="ctr" marL="0" indent="0" lvl="0">
              <a:lnSpc>
                <a:spcPts val="8865"/>
              </a:lnSpc>
              <a:spcBef>
                <a:spcPct val="0"/>
              </a:spcBef>
            </a:pPr>
            <a:r>
              <a:rPr lang="en-US" b="true" sz="6332">
                <a:solidFill>
                  <a:srgbClr val="197237"/>
                </a:solidFill>
                <a:latin typeface="Inter Bold"/>
                <a:ea typeface="Inter Bold"/>
                <a:cs typeface="Inter Bold"/>
                <a:sym typeface="Inter Bold"/>
              </a:rPr>
              <a:t>Diagramme de Classes</a:t>
            </a:r>
          </a:p>
        </p:txBody>
      </p:sp>
      <p:sp>
        <p:nvSpPr>
          <p:cNvPr name="Freeform 6" id="6"/>
          <p:cNvSpPr/>
          <p:nvPr/>
        </p:nvSpPr>
        <p:spPr>
          <a:xfrm flipH="false" flipV="false" rot="0">
            <a:off x="251672" y="235942"/>
            <a:ext cx="1360965" cy="1360965"/>
          </a:xfrm>
          <a:custGeom>
            <a:avLst/>
            <a:gdLst/>
            <a:ahLst/>
            <a:cxnLst/>
            <a:rect r="r" b="b" t="t" l="l"/>
            <a:pathLst>
              <a:path h="1360965" w="1360965">
                <a:moveTo>
                  <a:pt x="0" y="0"/>
                </a:moveTo>
                <a:lnTo>
                  <a:pt x="1360965" y="0"/>
                </a:lnTo>
                <a:lnTo>
                  <a:pt x="1360965" y="1360966"/>
                </a:lnTo>
                <a:lnTo>
                  <a:pt x="0" y="1360966"/>
                </a:lnTo>
                <a:lnTo>
                  <a:pt x="0" y="0"/>
                </a:lnTo>
                <a:close/>
              </a:path>
            </a:pathLst>
          </a:custGeom>
          <a:blipFill>
            <a:blip r:embed="rId6"/>
            <a:stretch>
              <a:fillRect l="0" t="0" r="0" b="0"/>
            </a:stretch>
          </a:blipFill>
        </p:spPr>
      </p:sp>
    </p:spTree>
  </p:cSld>
  <p:clrMapOvr>
    <a:masterClrMapping/>
  </p:clrMapOvr>
  <p:transition spd="fast">
    <p:push dir="l"/>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sp>
        <p:nvSpPr>
          <p:cNvPr name="TextBox 3" id="3"/>
          <p:cNvSpPr txBox="true"/>
          <p:nvPr/>
        </p:nvSpPr>
        <p:spPr>
          <a:xfrm rot="0">
            <a:off x="2922223" y="373749"/>
            <a:ext cx="12443555" cy="920628"/>
          </a:xfrm>
          <a:prstGeom prst="rect">
            <a:avLst/>
          </a:prstGeom>
        </p:spPr>
        <p:txBody>
          <a:bodyPr anchor="t" rtlCol="false" tIns="0" lIns="0" bIns="0" rIns="0">
            <a:spAutoFit/>
          </a:bodyPr>
          <a:lstStyle/>
          <a:p>
            <a:pPr algn="ctr" marL="0" indent="0" lvl="0">
              <a:lnSpc>
                <a:spcPts val="7531"/>
              </a:lnSpc>
              <a:spcBef>
                <a:spcPct val="0"/>
              </a:spcBef>
            </a:pPr>
            <a:r>
              <a:rPr lang="en-US" b="true" sz="5379">
                <a:solidFill>
                  <a:srgbClr val="197237"/>
                </a:solidFill>
                <a:latin typeface="Inter Bold"/>
                <a:ea typeface="Inter Bold"/>
                <a:cs typeface="Inter Bold"/>
                <a:sym typeface="Inter Bold"/>
              </a:rPr>
              <a:t>Architecture Logicielle</a:t>
            </a:r>
          </a:p>
        </p:txBody>
      </p:sp>
      <p:sp>
        <p:nvSpPr>
          <p:cNvPr name="Freeform 4" id="4"/>
          <p:cNvSpPr/>
          <p:nvPr/>
        </p:nvSpPr>
        <p:spPr>
          <a:xfrm flipH="false" flipV="false" rot="0">
            <a:off x="1028700" y="1623489"/>
            <a:ext cx="16230600" cy="7040023"/>
          </a:xfrm>
          <a:custGeom>
            <a:avLst/>
            <a:gdLst/>
            <a:ahLst/>
            <a:cxnLst/>
            <a:rect r="r" b="b" t="t" l="l"/>
            <a:pathLst>
              <a:path h="7040023" w="16230600">
                <a:moveTo>
                  <a:pt x="0" y="0"/>
                </a:moveTo>
                <a:lnTo>
                  <a:pt x="16230600" y="0"/>
                </a:lnTo>
                <a:lnTo>
                  <a:pt x="16230600" y="7040022"/>
                </a:lnTo>
                <a:lnTo>
                  <a:pt x="0" y="7040022"/>
                </a:lnTo>
                <a:lnTo>
                  <a:pt x="0" y="0"/>
                </a:lnTo>
                <a:close/>
              </a:path>
            </a:pathLst>
          </a:custGeom>
          <a:blipFill>
            <a:blip r:embed="rId3"/>
            <a:stretch>
              <a:fillRect l="0" t="0" r="0" b="0"/>
            </a:stretch>
          </a:blipFill>
          <a:ln w="38100" cap="rnd">
            <a:solidFill>
              <a:srgbClr val="154428"/>
            </a:solidFill>
            <a:prstDash val="solid"/>
            <a:round/>
          </a:ln>
        </p:spPr>
      </p:sp>
      <p:sp>
        <p:nvSpPr>
          <p:cNvPr name="Freeform 5" id="5"/>
          <p:cNvSpPr/>
          <p:nvPr/>
        </p:nvSpPr>
        <p:spPr>
          <a:xfrm flipH="false" flipV="false" rot="0">
            <a:off x="0" y="7406983"/>
            <a:ext cx="3233328" cy="2880017"/>
          </a:xfrm>
          <a:custGeom>
            <a:avLst/>
            <a:gdLst/>
            <a:ahLst/>
            <a:cxnLst/>
            <a:rect r="r" b="b" t="t" l="l"/>
            <a:pathLst>
              <a:path h="2880017" w="3233328">
                <a:moveTo>
                  <a:pt x="0" y="0"/>
                </a:moveTo>
                <a:lnTo>
                  <a:pt x="3233328" y="0"/>
                </a:lnTo>
                <a:lnTo>
                  <a:pt x="3233328" y="2880017"/>
                </a:lnTo>
                <a:lnTo>
                  <a:pt x="0" y="28800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437982">
            <a:off x="14963826" y="-77507"/>
            <a:ext cx="3160431" cy="3028267"/>
          </a:xfrm>
          <a:custGeom>
            <a:avLst/>
            <a:gdLst/>
            <a:ahLst/>
            <a:cxnLst/>
            <a:rect r="r" b="b" t="t" l="l"/>
            <a:pathLst>
              <a:path h="3028267" w="3160431">
                <a:moveTo>
                  <a:pt x="0" y="0"/>
                </a:moveTo>
                <a:lnTo>
                  <a:pt x="3160431" y="0"/>
                </a:lnTo>
                <a:lnTo>
                  <a:pt x="3160431" y="3028267"/>
                </a:lnTo>
                <a:lnTo>
                  <a:pt x="0" y="30282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251672" y="235942"/>
            <a:ext cx="1360965" cy="1360965"/>
          </a:xfrm>
          <a:custGeom>
            <a:avLst/>
            <a:gdLst/>
            <a:ahLst/>
            <a:cxnLst/>
            <a:rect r="r" b="b" t="t" l="l"/>
            <a:pathLst>
              <a:path h="1360965" w="1360965">
                <a:moveTo>
                  <a:pt x="0" y="0"/>
                </a:moveTo>
                <a:lnTo>
                  <a:pt x="1360965" y="0"/>
                </a:lnTo>
                <a:lnTo>
                  <a:pt x="1360965" y="1360966"/>
                </a:lnTo>
                <a:lnTo>
                  <a:pt x="0" y="1360966"/>
                </a:lnTo>
                <a:lnTo>
                  <a:pt x="0" y="0"/>
                </a:lnTo>
                <a:close/>
              </a:path>
            </a:pathLst>
          </a:custGeom>
          <a:blipFill>
            <a:blip r:embed="rId8"/>
            <a:stretch>
              <a:fillRect l="0" t="0" r="0" b="0"/>
            </a:stretch>
          </a:blipFill>
        </p:spPr>
      </p:sp>
    </p:spTree>
  </p:cSld>
  <p:clrMapOvr>
    <a:masterClrMapping/>
  </p:clrMapOvr>
  <p:transition spd="fast">
    <p:push dir="l"/>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sp>
        <p:nvSpPr>
          <p:cNvPr name="TextBox 3" id="3"/>
          <p:cNvSpPr txBox="true"/>
          <p:nvPr/>
        </p:nvSpPr>
        <p:spPr>
          <a:xfrm rot="0">
            <a:off x="2664711" y="432846"/>
            <a:ext cx="12958578" cy="1077409"/>
          </a:xfrm>
          <a:prstGeom prst="rect">
            <a:avLst/>
          </a:prstGeom>
        </p:spPr>
        <p:txBody>
          <a:bodyPr anchor="t" rtlCol="false" tIns="0" lIns="0" bIns="0" rIns="0">
            <a:spAutoFit/>
          </a:bodyPr>
          <a:lstStyle/>
          <a:p>
            <a:pPr algn="ctr" marL="0" indent="0" lvl="0">
              <a:lnSpc>
                <a:spcPts val="8865"/>
              </a:lnSpc>
              <a:spcBef>
                <a:spcPct val="0"/>
              </a:spcBef>
            </a:pPr>
            <a:r>
              <a:rPr lang="en-US" b="true" sz="6332">
                <a:solidFill>
                  <a:srgbClr val="197237"/>
                </a:solidFill>
                <a:latin typeface="Inter Bold"/>
                <a:ea typeface="Inter Bold"/>
                <a:cs typeface="Inter Bold"/>
                <a:sym typeface="Inter Bold"/>
              </a:rPr>
              <a:t>Architecture réseau des données </a:t>
            </a:r>
          </a:p>
        </p:txBody>
      </p:sp>
      <p:sp>
        <p:nvSpPr>
          <p:cNvPr name="Freeform 4" id="4"/>
          <p:cNvSpPr/>
          <p:nvPr/>
        </p:nvSpPr>
        <p:spPr>
          <a:xfrm flipH="false" flipV="false" rot="0">
            <a:off x="701397" y="2557953"/>
            <a:ext cx="16885206" cy="5171094"/>
          </a:xfrm>
          <a:custGeom>
            <a:avLst/>
            <a:gdLst/>
            <a:ahLst/>
            <a:cxnLst/>
            <a:rect r="r" b="b" t="t" l="l"/>
            <a:pathLst>
              <a:path h="5171094" w="16885206">
                <a:moveTo>
                  <a:pt x="0" y="0"/>
                </a:moveTo>
                <a:lnTo>
                  <a:pt x="16885206" y="0"/>
                </a:lnTo>
                <a:lnTo>
                  <a:pt x="16885206" y="5171094"/>
                </a:lnTo>
                <a:lnTo>
                  <a:pt x="0" y="5171094"/>
                </a:lnTo>
                <a:lnTo>
                  <a:pt x="0" y="0"/>
                </a:lnTo>
                <a:close/>
              </a:path>
            </a:pathLst>
          </a:custGeom>
          <a:blipFill>
            <a:blip r:embed="rId3"/>
            <a:stretch>
              <a:fillRect l="0" t="0" r="0" b="0"/>
            </a:stretch>
          </a:blipFill>
          <a:ln w="38100" cap="rnd">
            <a:solidFill>
              <a:srgbClr val="154428"/>
            </a:solidFill>
            <a:prstDash val="solid"/>
            <a:round/>
          </a:ln>
        </p:spPr>
      </p:sp>
      <p:sp>
        <p:nvSpPr>
          <p:cNvPr name="Freeform 5" id="5"/>
          <p:cNvSpPr/>
          <p:nvPr/>
        </p:nvSpPr>
        <p:spPr>
          <a:xfrm flipH="false" flipV="false" rot="0">
            <a:off x="12727238" y="7464639"/>
            <a:ext cx="5792103" cy="2522235"/>
          </a:xfrm>
          <a:custGeom>
            <a:avLst/>
            <a:gdLst/>
            <a:ahLst/>
            <a:cxnLst/>
            <a:rect r="r" b="b" t="t" l="l"/>
            <a:pathLst>
              <a:path h="2522235" w="5792103">
                <a:moveTo>
                  <a:pt x="0" y="0"/>
                </a:moveTo>
                <a:lnTo>
                  <a:pt x="5792103" y="0"/>
                </a:lnTo>
                <a:lnTo>
                  <a:pt x="5792103" y="2522235"/>
                </a:lnTo>
                <a:lnTo>
                  <a:pt x="0" y="25222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276159" y="6894969"/>
            <a:ext cx="3835024" cy="3091905"/>
          </a:xfrm>
          <a:custGeom>
            <a:avLst/>
            <a:gdLst/>
            <a:ahLst/>
            <a:cxnLst/>
            <a:rect r="r" b="b" t="t" l="l"/>
            <a:pathLst>
              <a:path h="3091905" w="3835024">
                <a:moveTo>
                  <a:pt x="0" y="0"/>
                </a:moveTo>
                <a:lnTo>
                  <a:pt x="3835024" y="0"/>
                </a:lnTo>
                <a:lnTo>
                  <a:pt x="3835024" y="3091905"/>
                </a:lnTo>
                <a:lnTo>
                  <a:pt x="0" y="30919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251672" y="235942"/>
            <a:ext cx="1360965" cy="1360965"/>
          </a:xfrm>
          <a:custGeom>
            <a:avLst/>
            <a:gdLst/>
            <a:ahLst/>
            <a:cxnLst/>
            <a:rect r="r" b="b" t="t" l="l"/>
            <a:pathLst>
              <a:path h="1360965" w="1360965">
                <a:moveTo>
                  <a:pt x="0" y="0"/>
                </a:moveTo>
                <a:lnTo>
                  <a:pt x="1360965" y="0"/>
                </a:lnTo>
                <a:lnTo>
                  <a:pt x="1360965" y="1360966"/>
                </a:lnTo>
                <a:lnTo>
                  <a:pt x="0" y="1360966"/>
                </a:lnTo>
                <a:lnTo>
                  <a:pt x="0" y="0"/>
                </a:lnTo>
                <a:close/>
              </a:path>
            </a:pathLst>
          </a:custGeom>
          <a:blipFill>
            <a:blip r:embed="rId8"/>
            <a:stretch>
              <a:fillRect l="0" t="0" r="0" b="0"/>
            </a:stretch>
          </a:blipFill>
        </p:spPr>
      </p:sp>
    </p:spTree>
  </p:cSld>
  <p:clrMapOvr>
    <a:masterClrMapping/>
  </p:clrMapOvr>
  <p:transition spd="fast">
    <p:push dir="l"/>
  </p:transition>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2777742" cy="10287000"/>
          </a:xfrm>
          <a:custGeom>
            <a:avLst/>
            <a:gdLst/>
            <a:ahLst/>
            <a:cxnLst/>
            <a:rect r="r" b="b" t="t" l="l"/>
            <a:pathLst>
              <a:path h="10287000" w="2777742">
                <a:moveTo>
                  <a:pt x="0" y="0"/>
                </a:moveTo>
                <a:lnTo>
                  <a:pt x="2777742" y="0"/>
                </a:lnTo>
                <a:lnTo>
                  <a:pt x="2777742" y="10287000"/>
                </a:lnTo>
                <a:lnTo>
                  <a:pt x="0" y="10287000"/>
                </a:lnTo>
                <a:lnTo>
                  <a:pt x="0" y="0"/>
                </a:lnTo>
                <a:close/>
              </a:path>
            </a:pathLst>
          </a:custGeom>
          <a:blipFill>
            <a:blip r:embed="rId2"/>
            <a:stretch>
              <a:fillRect l="0" t="0" r="-119482" b="0"/>
            </a:stretch>
          </a:blipFill>
        </p:spPr>
      </p:sp>
      <p:sp>
        <p:nvSpPr>
          <p:cNvPr name="TextBox 3" id="3"/>
          <p:cNvSpPr txBox="true"/>
          <p:nvPr/>
        </p:nvSpPr>
        <p:spPr>
          <a:xfrm rot="0">
            <a:off x="6957409" y="174625"/>
            <a:ext cx="6230689" cy="2625725"/>
          </a:xfrm>
          <a:prstGeom prst="rect">
            <a:avLst/>
          </a:prstGeom>
        </p:spPr>
        <p:txBody>
          <a:bodyPr anchor="t" rtlCol="false" tIns="0" lIns="0" bIns="0" rIns="0">
            <a:spAutoFit/>
          </a:bodyPr>
          <a:lstStyle/>
          <a:p>
            <a:pPr algn="ctr">
              <a:lnSpc>
                <a:spcPts val="7000"/>
              </a:lnSpc>
            </a:pPr>
            <a:r>
              <a:rPr lang="en-US" sz="5000" b="true">
                <a:solidFill>
                  <a:srgbClr val="000000"/>
                </a:solidFill>
                <a:latin typeface="Inter Bold"/>
                <a:ea typeface="Inter Bold"/>
                <a:cs typeface="Inter Bold"/>
                <a:sym typeface="Inter Bold"/>
              </a:rPr>
              <a:t>III : Focus Technique</a:t>
            </a:r>
          </a:p>
          <a:p>
            <a:pPr algn="ctr">
              <a:lnSpc>
                <a:spcPts val="7000"/>
              </a:lnSpc>
            </a:pPr>
            <a:r>
              <a:rPr lang="en-US" sz="5000" b="true">
                <a:solidFill>
                  <a:srgbClr val="000000"/>
                </a:solidFill>
                <a:latin typeface="Inter Bold"/>
                <a:ea typeface="Inter Bold"/>
                <a:cs typeface="Inter Bold"/>
                <a:sym typeface="Inter Bold"/>
              </a:rPr>
              <a:t>-Sécurité</a:t>
            </a:r>
          </a:p>
          <a:p>
            <a:pPr algn="ctr">
              <a:lnSpc>
                <a:spcPts val="7000"/>
              </a:lnSpc>
              <a:spcBef>
                <a:spcPct val="0"/>
              </a:spcBef>
            </a:pPr>
          </a:p>
        </p:txBody>
      </p:sp>
    </p:spTree>
  </p:cSld>
  <p:clrMapOvr>
    <a:masterClrMapping/>
  </p:clrMapOvr>
  <p:transition spd="fast">
    <p:push dir="l"/>
  </p:transition>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760582" y="3021478"/>
            <a:ext cx="4766835" cy="6236822"/>
          </a:xfrm>
          <a:custGeom>
            <a:avLst/>
            <a:gdLst/>
            <a:ahLst/>
            <a:cxnLst/>
            <a:rect r="r" b="b" t="t" l="l"/>
            <a:pathLst>
              <a:path h="6236822" w="4766835">
                <a:moveTo>
                  <a:pt x="0" y="0"/>
                </a:moveTo>
                <a:lnTo>
                  <a:pt x="4766836" y="0"/>
                </a:lnTo>
                <a:lnTo>
                  <a:pt x="4766836" y="6236822"/>
                </a:lnTo>
                <a:lnTo>
                  <a:pt x="0" y="6236822"/>
                </a:lnTo>
                <a:lnTo>
                  <a:pt x="0" y="0"/>
                </a:lnTo>
                <a:close/>
              </a:path>
            </a:pathLst>
          </a:custGeom>
          <a:blipFill>
            <a:blip r:embed="rId2"/>
            <a:stretch>
              <a:fillRect l="0" t="0" r="0" b="0"/>
            </a:stretch>
          </a:blipFill>
        </p:spPr>
      </p:sp>
      <p:sp>
        <p:nvSpPr>
          <p:cNvPr name="Freeform 3" id="3"/>
          <p:cNvSpPr/>
          <p:nvPr/>
        </p:nvSpPr>
        <p:spPr>
          <a:xfrm flipH="false" flipV="false" rot="0">
            <a:off x="1028700" y="3117176"/>
            <a:ext cx="5306146" cy="6141124"/>
          </a:xfrm>
          <a:custGeom>
            <a:avLst/>
            <a:gdLst/>
            <a:ahLst/>
            <a:cxnLst/>
            <a:rect r="r" b="b" t="t" l="l"/>
            <a:pathLst>
              <a:path h="6141124" w="5306146">
                <a:moveTo>
                  <a:pt x="0" y="0"/>
                </a:moveTo>
                <a:lnTo>
                  <a:pt x="5306146" y="0"/>
                </a:lnTo>
                <a:lnTo>
                  <a:pt x="5306146" y="6141124"/>
                </a:lnTo>
                <a:lnTo>
                  <a:pt x="0" y="6141124"/>
                </a:lnTo>
                <a:lnTo>
                  <a:pt x="0" y="0"/>
                </a:lnTo>
                <a:close/>
              </a:path>
            </a:pathLst>
          </a:custGeom>
          <a:blipFill>
            <a:blip r:embed="rId3"/>
            <a:stretch>
              <a:fillRect l="0" t="0" r="0" b="0"/>
            </a:stretch>
          </a:blipFill>
        </p:spPr>
      </p:sp>
      <p:sp>
        <p:nvSpPr>
          <p:cNvPr name="Freeform 4" id="4"/>
          <p:cNvSpPr/>
          <p:nvPr/>
        </p:nvSpPr>
        <p:spPr>
          <a:xfrm flipH="false" flipV="false" rot="0">
            <a:off x="12604607" y="2826299"/>
            <a:ext cx="4844451" cy="6270270"/>
          </a:xfrm>
          <a:custGeom>
            <a:avLst/>
            <a:gdLst/>
            <a:ahLst/>
            <a:cxnLst/>
            <a:rect r="r" b="b" t="t" l="l"/>
            <a:pathLst>
              <a:path h="6270270" w="4844451">
                <a:moveTo>
                  <a:pt x="0" y="0"/>
                </a:moveTo>
                <a:lnTo>
                  <a:pt x="4844451" y="0"/>
                </a:lnTo>
                <a:lnTo>
                  <a:pt x="4844451" y="6270270"/>
                </a:lnTo>
                <a:lnTo>
                  <a:pt x="0" y="6270270"/>
                </a:lnTo>
                <a:lnTo>
                  <a:pt x="0" y="0"/>
                </a:lnTo>
                <a:close/>
              </a:path>
            </a:pathLst>
          </a:custGeom>
          <a:blipFill>
            <a:blip r:embed="rId4"/>
            <a:stretch>
              <a:fillRect l="0" t="0" r="0" b="0"/>
            </a:stretch>
          </a:blipFill>
        </p:spPr>
      </p:sp>
      <p:sp>
        <p:nvSpPr>
          <p:cNvPr name="TextBox 5" id="5"/>
          <p:cNvSpPr txBox="true"/>
          <p:nvPr/>
        </p:nvSpPr>
        <p:spPr>
          <a:xfrm rot="0">
            <a:off x="1166304" y="1081656"/>
            <a:ext cx="9596289" cy="514349"/>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Inter Bold"/>
                <a:ea typeface="Inter Bold"/>
                <a:cs typeface="Inter Bold"/>
                <a:sym typeface="Inter Bold"/>
              </a:rPr>
              <a:t>Mécanisme d’authentification et d’autorisation JWT </a:t>
            </a:r>
          </a:p>
        </p:txBody>
      </p:sp>
      <p:sp>
        <p:nvSpPr>
          <p:cNvPr name="TextBox 6" id="6"/>
          <p:cNvSpPr txBox="true"/>
          <p:nvPr/>
        </p:nvSpPr>
        <p:spPr>
          <a:xfrm rot="0">
            <a:off x="7216738" y="2206135"/>
            <a:ext cx="3342068" cy="349108"/>
          </a:xfrm>
          <a:prstGeom prst="rect">
            <a:avLst/>
          </a:prstGeom>
        </p:spPr>
        <p:txBody>
          <a:bodyPr anchor="t" rtlCol="false" tIns="0" lIns="0" bIns="0" rIns="0">
            <a:spAutoFit/>
          </a:bodyPr>
          <a:lstStyle/>
          <a:p>
            <a:pPr algn="ctr">
              <a:lnSpc>
                <a:spcPts val="2807"/>
              </a:lnSpc>
              <a:spcBef>
                <a:spcPct val="0"/>
              </a:spcBef>
            </a:pPr>
            <a:r>
              <a:rPr lang="en-US" b="true" sz="2005">
                <a:solidFill>
                  <a:srgbClr val="000000"/>
                </a:solidFill>
                <a:latin typeface="Inter Bold"/>
                <a:ea typeface="Inter Bold"/>
                <a:cs typeface="Inter Bold"/>
                <a:sym typeface="Inter Bold"/>
              </a:rPr>
              <a:t>filtre de sécurité</a:t>
            </a:r>
          </a:p>
        </p:txBody>
      </p:sp>
      <p:sp>
        <p:nvSpPr>
          <p:cNvPr name="TextBox 7" id="7"/>
          <p:cNvSpPr txBox="true"/>
          <p:nvPr/>
        </p:nvSpPr>
        <p:spPr>
          <a:xfrm rot="0">
            <a:off x="1785166" y="2253984"/>
            <a:ext cx="3342068" cy="349108"/>
          </a:xfrm>
          <a:prstGeom prst="rect">
            <a:avLst/>
          </a:prstGeom>
        </p:spPr>
        <p:txBody>
          <a:bodyPr anchor="t" rtlCol="false" tIns="0" lIns="0" bIns="0" rIns="0">
            <a:spAutoFit/>
          </a:bodyPr>
          <a:lstStyle/>
          <a:p>
            <a:pPr algn="ctr">
              <a:lnSpc>
                <a:spcPts val="2807"/>
              </a:lnSpc>
              <a:spcBef>
                <a:spcPct val="0"/>
              </a:spcBef>
            </a:pPr>
            <a:r>
              <a:rPr lang="en-US" b="true" sz="2005">
                <a:solidFill>
                  <a:srgbClr val="000000"/>
                </a:solidFill>
                <a:latin typeface="Inter Bold"/>
                <a:ea typeface="Inter Bold"/>
                <a:cs typeface="Inter Bold"/>
                <a:sym typeface="Inter Bold"/>
              </a:rPr>
              <a:t>Inscription</a:t>
            </a:r>
          </a:p>
        </p:txBody>
      </p:sp>
      <p:sp>
        <p:nvSpPr>
          <p:cNvPr name="TextBox 8" id="8"/>
          <p:cNvSpPr txBox="true"/>
          <p:nvPr/>
        </p:nvSpPr>
        <p:spPr>
          <a:xfrm rot="0">
            <a:off x="13102077" y="2253984"/>
            <a:ext cx="3342068" cy="349108"/>
          </a:xfrm>
          <a:prstGeom prst="rect">
            <a:avLst/>
          </a:prstGeom>
        </p:spPr>
        <p:txBody>
          <a:bodyPr anchor="t" rtlCol="false" tIns="0" lIns="0" bIns="0" rIns="0">
            <a:spAutoFit/>
          </a:bodyPr>
          <a:lstStyle/>
          <a:p>
            <a:pPr algn="ctr">
              <a:lnSpc>
                <a:spcPts val="2807"/>
              </a:lnSpc>
              <a:spcBef>
                <a:spcPct val="0"/>
              </a:spcBef>
            </a:pPr>
            <a:r>
              <a:rPr lang="en-US" b="true" sz="2005">
                <a:solidFill>
                  <a:srgbClr val="000000"/>
                </a:solidFill>
                <a:latin typeface="Inter Bold"/>
                <a:ea typeface="Inter Bold"/>
                <a:cs typeface="Inter Bold"/>
                <a:sym typeface="Inter Bold"/>
              </a:rPr>
              <a:t>Connexion</a:t>
            </a:r>
          </a:p>
        </p:txBody>
      </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670521" y="554038"/>
            <a:ext cx="4663827" cy="854075"/>
          </a:xfrm>
          <a:prstGeom prst="rect">
            <a:avLst/>
          </a:prstGeom>
        </p:spPr>
        <p:txBody>
          <a:bodyPr anchor="t" rtlCol="false" tIns="0" lIns="0" bIns="0" rIns="0">
            <a:spAutoFit/>
          </a:bodyPr>
          <a:lstStyle/>
          <a:p>
            <a:pPr algn="ctr">
              <a:lnSpc>
                <a:spcPts val="7000"/>
              </a:lnSpc>
              <a:spcBef>
                <a:spcPct val="0"/>
              </a:spcBef>
            </a:pPr>
            <a:r>
              <a:rPr lang="en-US" b="true" sz="5000">
                <a:solidFill>
                  <a:srgbClr val="000000"/>
                </a:solidFill>
                <a:latin typeface="Inter Bold"/>
                <a:ea typeface="Inter Bold"/>
                <a:cs typeface="Inter Bold"/>
                <a:sym typeface="Inter Bold"/>
              </a:rPr>
              <a:t>-Fonctionnalite</a:t>
            </a: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609847" y="174625"/>
            <a:ext cx="2925812" cy="854075"/>
          </a:xfrm>
          <a:prstGeom prst="rect">
            <a:avLst/>
          </a:prstGeom>
        </p:spPr>
        <p:txBody>
          <a:bodyPr anchor="t" rtlCol="false" tIns="0" lIns="0" bIns="0" rIns="0">
            <a:spAutoFit/>
          </a:bodyPr>
          <a:lstStyle/>
          <a:p>
            <a:pPr algn="ctr">
              <a:lnSpc>
                <a:spcPts val="7000"/>
              </a:lnSpc>
              <a:spcBef>
                <a:spcPct val="0"/>
              </a:spcBef>
            </a:pPr>
            <a:r>
              <a:rPr lang="en-US" b="true" sz="5000">
                <a:solidFill>
                  <a:srgbClr val="000000"/>
                </a:solidFill>
                <a:latin typeface="Inter Bold"/>
                <a:ea typeface="Inter Bold"/>
                <a:cs typeface="Inter Bold"/>
                <a:sym typeface="Inter Bold"/>
              </a:rPr>
              <a:t>IV : Démo</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3465865" y="3097048"/>
            <a:ext cx="3283874" cy="4092904"/>
            <a:chOff x="0" y="0"/>
            <a:chExt cx="1006794" cy="1254832"/>
          </a:xfrm>
        </p:grpSpPr>
        <p:sp>
          <p:nvSpPr>
            <p:cNvPr name="Freeform 4" id="4"/>
            <p:cNvSpPr/>
            <p:nvPr/>
          </p:nvSpPr>
          <p:spPr>
            <a:xfrm flipH="false" flipV="false" rot="0">
              <a:off x="0" y="0"/>
              <a:ext cx="1006794" cy="1254833"/>
            </a:xfrm>
            <a:custGeom>
              <a:avLst/>
              <a:gdLst/>
              <a:ahLst/>
              <a:cxnLst/>
              <a:rect r="r" b="b" t="t" l="l"/>
              <a:pathLst>
                <a:path h="1254833" w="1006794">
                  <a:moveTo>
                    <a:pt x="25933" y="0"/>
                  </a:moveTo>
                  <a:lnTo>
                    <a:pt x="980861" y="0"/>
                  </a:lnTo>
                  <a:cubicBezTo>
                    <a:pt x="987739" y="0"/>
                    <a:pt x="994335" y="2732"/>
                    <a:pt x="999198" y="7596"/>
                  </a:cubicBezTo>
                  <a:cubicBezTo>
                    <a:pt x="1004062" y="12459"/>
                    <a:pt x="1006794" y="19055"/>
                    <a:pt x="1006794" y="25933"/>
                  </a:cubicBezTo>
                  <a:lnTo>
                    <a:pt x="1006794" y="1228899"/>
                  </a:lnTo>
                  <a:cubicBezTo>
                    <a:pt x="1006794" y="1243222"/>
                    <a:pt x="995183" y="1254833"/>
                    <a:pt x="980861" y="1254833"/>
                  </a:cubicBezTo>
                  <a:lnTo>
                    <a:pt x="25933" y="1254833"/>
                  </a:lnTo>
                  <a:cubicBezTo>
                    <a:pt x="11611" y="1254833"/>
                    <a:pt x="0" y="1243222"/>
                    <a:pt x="0" y="1228899"/>
                  </a:cubicBezTo>
                  <a:lnTo>
                    <a:pt x="0" y="25933"/>
                  </a:lnTo>
                  <a:cubicBezTo>
                    <a:pt x="0" y="19055"/>
                    <a:pt x="2732" y="12459"/>
                    <a:pt x="7596" y="7596"/>
                  </a:cubicBezTo>
                  <a:cubicBezTo>
                    <a:pt x="12459" y="2732"/>
                    <a:pt x="19055" y="0"/>
                    <a:pt x="25933" y="0"/>
                  </a:cubicBezTo>
                  <a:close/>
                </a:path>
              </a:pathLst>
            </a:custGeom>
            <a:solidFill>
              <a:srgbClr val="FFFFFF"/>
            </a:solidFill>
            <a:ln w="66675" cap="sq">
              <a:solidFill>
                <a:srgbClr val="154428"/>
              </a:solidFill>
              <a:prstDash val="solid"/>
              <a:miter/>
            </a:ln>
          </p:spPr>
        </p:sp>
        <p:sp>
          <p:nvSpPr>
            <p:cNvPr name="TextBox 5" id="5"/>
            <p:cNvSpPr txBox="true"/>
            <p:nvPr/>
          </p:nvSpPr>
          <p:spPr>
            <a:xfrm>
              <a:off x="0" y="-47625"/>
              <a:ext cx="1006794" cy="1302457"/>
            </a:xfrm>
            <a:prstGeom prst="rect">
              <a:avLst/>
            </a:prstGeom>
          </p:spPr>
          <p:txBody>
            <a:bodyPr anchor="ctr" rtlCol="false" tIns="50800" lIns="50800" bIns="50800" rIns="50800"/>
            <a:lstStyle/>
            <a:p>
              <a:pPr algn="ctr">
                <a:lnSpc>
                  <a:spcPts val="3210"/>
                </a:lnSpc>
              </a:pPr>
            </a:p>
          </p:txBody>
        </p:sp>
      </p:grpSp>
      <p:grpSp>
        <p:nvGrpSpPr>
          <p:cNvPr name="Group 6" id="6"/>
          <p:cNvGrpSpPr/>
          <p:nvPr/>
        </p:nvGrpSpPr>
        <p:grpSpPr>
          <a:xfrm rot="0">
            <a:off x="2951815" y="3360253"/>
            <a:ext cx="1066105" cy="10661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4428"/>
            </a:solidFill>
            <a:ln cap="sq">
              <a:noFill/>
              <a:prstDash val="solid"/>
              <a:miter/>
            </a:ln>
          </p:spPr>
        </p:sp>
        <p:sp>
          <p:nvSpPr>
            <p:cNvPr name="TextBox 8" id="8"/>
            <p:cNvSpPr txBox="true"/>
            <p:nvPr/>
          </p:nvSpPr>
          <p:spPr>
            <a:xfrm>
              <a:off x="76200" y="9525"/>
              <a:ext cx="660400" cy="727075"/>
            </a:xfrm>
            <a:prstGeom prst="rect">
              <a:avLst/>
            </a:prstGeom>
          </p:spPr>
          <p:txBody>
            <a:bodyPr anchor="ctr" rtlCol="false" tIns="50800" lIns="50800" bIns="50800" rIns="50800"/>
            <a:lstStyle/>
            <a:p>
              <a:pPr algn="ctr" marL="0" indent="0" lvl="1">
                <a:lnSpc>
                  <a:spcPts val="5141"/>
                </a:lnSpc>
                <a:spcBef>
                  <a:spcPct val="0"/>
                </a:spcBef>
              </a:pPr>
            </a:p>
          </p:txBody>
        </p:sp>
      </p:grpSp>
      <p:sp>
        <p:nvSpPr>
          <p:cNvPr name="Freeform 9" id="9"/>
          <p:cNvSpPr/>
          <p:nvPr/>
        </p:nvSpPr>
        <p:spPr>
          <a:xfrm flipH="false" flipV="false" rot="0">
            <a:off x="4373756" y="3369690"/>
            <a:ext cx="1468090" cy="1577050"/>
          </a:xfrm>
          <a:custGeom>
            <a:avLst/>
            <a:gdLst/>
            <a:ahLst/>
            <a:cxnLst/>
            <a:rect r="r" b="b" t="t" l="l"/>
            <a:pathLst>
              <a:path h="1577050" w="1468090">
                <a:moveTo>
                  <a:pt x="0" y="0"/>
                </a:moveTo>
                <a:lnTo>
                  <a:pt x="1468091" y="0"/>
                </a:lnTo>
                <a:lnTo>
                  <a:pt x="1468091" y="1577051"/>
                </a:lnTo>
                <a:lnTo>
                  <a:pt x="0" y="1577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7768613" y="3097048"/>
            <a:ext cx="3283874" cy="4092904"/>
            <a:chOff x="0" y="0"/>
            <a:chExt cx="1006794" cy="1254832"/>
          </a:xfrm>
        </p:grpSpPr>
        <p:sp>
          <p:nvSpPr>
            <p:cNvPr name="Freeform 11" id="11"/>
            <p:cNvSpPr/>
            <p:nvPr/>
          </p:nvSpPr>
          <p:spPr>
            <a:xfrm flipH="false" flipV="false" rot="0">
              <a:off x="0" y="0"/>
              <a:ext cx="1006794" cy="1254833"/>
            </a:xfrm>
            <a:custGeom>
              <a:avLst/>
              <a:gdLst/>
              <a:ahLst/>
              <a:cxnLst/>
              <a:rect r="r" b="b" t="t" l="l"/>
              <a:pathLst>
                <a:path h="1254833" w="1006794">
                  <a:moveTo>
                    <a:pt x="25933" y="0"/>
                  </a:moveTo>
                  <a:lnTo>
                    <a:pt x="980861" y="0"/>
                  </a:lnTo>
                  <a:cubicBezTo>
                    <a:pt x="987739" y="0"/>
                    <a:pt x="994335" y="2732"/>
                    <a:pt x="999198" y="7596"/>
                  </a:cubicBezTo>
                  <a:cubicBezTo>
                    <a:pt x="1004062" y="12459"/>
                    <a:pt x="1006794" y="19055"/>
                    <a:pt x="1006794" y="25933"/>
                  </a:cubicBezTo>
                  <a:lnTo>
                    <a:pt x="1006794" y="1228899"/>
                  </a:lnTo>
                  <a:cubicBezTo>
                    <a:pt x="1006794" y="1243222"/>
                    <a:pt x="995183" y="1254833"/>
                    <a:pt x="980861" y="1254833"/>
                  </a:cubicBezTo>
                  <a:lnTo>
                    <a:pt x="25933" y="1254833"/>
                  </a:lnTo>
                  <a:cubicBezTo>
                    <a:pt x="11611" y="1254833"/>
                    <a:pt x="0" y="1243222"/>
                    <a:pt x="0" y="1228899"/>
                  </a:cubicBezTo>
                  <a:lnTo>
                    <a:pt x="0" y="25933"/>
                  </a:lnTo>
                  <a:cubicBezTo>
                    <a:pt x="0" y="19055"/>
                    <a:pt x="2732" y="12459"/>
                    <a:pt x="7596" y="7596"/>
                  </a:cubicBezTo>
                  <a:cubicBezTo>
                    <a:pt x="12459" y="2732"/>
                    <a:pt x="19055" y="0"/>
                    <a:pt x="25933" y="0"/>
                  </a:cubicBezTo>
                  <a:close/>
                </a:path>
              </a:pathLst>
            </a:custGeom>
            <a:solidFill>
              <a:srgbClr val="FFFFFF"/>
            </a:solidFill>
            <a:ln w="66675" cap="sq">
              <a:solidFill>
                <a:srgbClr val="154428"/>
              </a:solidFill>
              <a:prstDash val="solid"/>
              <a:miter/>
            </a:ln>
          </p:spPr>
        </p:sp>
        <p:sp>
          <p:nvSpPr>
            <p:cNvPr name="TextBox 12" id="12"/>
            <p:cNvSpPr txBox="true"/>
            <p:nvPr/>
          </p:nvSpPr>
          <p:spPr>
            <a:xfrm>
              <a:off x="0" y="-47625"/>
              <a:ext cx="1006794" cy="1302457"/>
            </a:xfrm>
            <a:prstGeom prst="rect">
              <a:avLst/>
            </a:prstGeom>
          </p:spPr>
          <p:txBody>
            <a:bodyPr anchor="ctr" rtlCol="false" tIns="50800" lIns="50800" bIns="50800" rIns="50800"/>
            <a:lstStyle/>
            <a:p>
              <a:pPr algn="ctr">
                <a:lnSpc>
                  <a:spcPts val="3210"/>
                </a:lnSpc>
              </a:pPr>
            </a:p>
          </p:txBody>
        </p:sp>
      </p:grpSp>
      <p:grpSp>
        <p:nvGrpSpPr>
          <p:cNvPr name="Group 13" id="13"/>
          <p:cNvGrpSpPr/>
          <p:nvPr/>
        </p:nvGrpSpPr>
        <p:grpSpPr>
          <a:xfrm rot="0">
            <a:off x="7254563" y="3360253"/>
            <a:ext cx="1066105" cy="1066105"/>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4428"/>
            </a:solidFill>
            <a:ln cap="sq">
              <a:noFill/>
              <a:prstDash val="solid"/>
              <a:miter/>
            </a:ln>
          </p:spPr>
        </p:sp>
        <p:sp>
          <p:nvSpPr>
            <p:cNvPr name="TextBox 15" id="15"/>
            <p:cNvSpPr txBox="true"/>
            <p:nvPr/>
          </p:nvSpPr>
          <p:spPr>
            <a:xfrm>
              <a:off x="76200" y="9525"/>
              <a:ext cx="660400" cy="727075"/>
            </a:xfrm>
            <a:prstGeom prst="rect">
              <a:avLst/>
            </a:prstGeom>
          </p:spPr>
          <p:txBody>
            <a:bodyPr anchor="ctr" rtlCol="false" tIns="50800" lIns="50800" bIns="50800" rIns="50800"/>
            <a:lstStyle/>
            <a:p>
              <a:pPr algn="ctr" marL="0" indent="0" lvl="1">
                <a:lnSpc>
                  <a:spcPts val="5141"/>
                </a:lnSpc>
                <a:spcBef>
                  <a:spcPct val="0"/>
                </a:spcBef>
              </a:pPr>
            </a:p>
          </p:txBody>
        </p:sp>
      </p:grpSp>
      <p:grpSp>
        <p:nvGrpSpPr>
          <p:cNvPr name="Group 16" id="16"/>
          <p:cNvGrpSpPr/>
          <p:nvPr/>
        </p:nvGrpSpPr>
        <p:grpSpPr>
          <a:xfrm rot="0">
            <a:off x="12052311" y="3097048"/>
            <a:ext cx="3283874" cy="4092904"/>
            <a:chOff x="0" y="0"/>
            <a:chExt cx="1006794" cy="1254832"/>
          </a:xfrm>
        </p:grpSpPr>
        <p:sp>
          <p:nvSpPr>
            <p:cNvPr name="Freeform 17" id="17"/>
            <p:cNvSpPr/>
            <p:nvPr/>
          </p:nvSpPr>
          <p:spPr>
            <a:xfrm flipH="false" flipV="false" rot="0">
              <a:off x="0" y="0"/>
              <a:ext cx="1006794" cy="1254833"/>
            </a:xfrm>
            <a:custGeom>
              <a:avLst/>
              <a:gdLst/>
              <a:ahLst/>
              <a:cxnLst/>
              <a:rect r="r" b="b" t="t" l="l"/>
              <a:pathLst>
                <a:path h="1254833" w="1006794">
                  <a:moveTo>
                    <a:pt x="25933" y="0"/>
                  </a:moveTo>
                  <a:lnTo>
                    <a:pt x="980861" y="0"/>
                  </a:lnTo>
                  <a:cubicBezTo>
                    <a:pt x="987739" y="0"/>
                    <a:pt x="994335" y="2732"/>
                    <a:pt x="999198" y="7596"/>
                  </a:cubicBezTo>
                  <a:cubicBezTo>
                    <a:pt x="1004062" y="12459"/>
                    <a:pt x="1006794" y="19055"/>
                    <a:pt x="1006794" y="25933"/>
                  </a:cubicBezTo>
                  <a:lnTo>
                    <a:pt x="1006794" y="1228899"/>
                  </a:lnTo>
                  <a:cubicBezTo>
                    <a:pt x="1006794" y="1243222"/>
                    <a:pt x="995183" y="1254833"/>
                    <a:pt x="980861" y="1254833"/>
                  </a:cubicBezTo>
                  <a:lnTo>
                    <a:pt x="25933" y="1254833"/>
                  </a:lnTo>
                  <a:cubicBezTo>
                    <a:pt x="11611" y="1254833"/>
                    <a:pt x="0" y="1243222"/>
                    <a:pt x="0" y="1228899"/>
                  </a:cubicBezTo>
                  <a:lnTo>
                    <a:pt x="0" y="25933"/>
                  </a:lnTo>
                  <a:cubicBezTo>
                    <a:pt x="0" y="19055"/>
                    <a:pt x="2732" y="12459"/>
                    <a:pt x="7596" y="7596"/>
                  </a:cubicBezTo>
                  <a:cubicBezTo>
                    <a:pt x="12459" y="2732"/>
                    <a:pt x="19055" y="0"/>
                    <a:pt x="25933" y="0"/>
                  </a:cubicBezTo>
                  <a:close/>
                </a:path>
              </a:pathLst>
            </a:custGeom>
            <a:solidFill>
              <a:srgbClr val="FFFFFF"/>
            </a:solidFill>
            <a:ln w="66675" cap="sq">
              <a:solidFill>
                <a:srgbClr val="154428"/>
              </a:solidFill>
              <a:prstDash val="solid"/>
              <a:miter/>
            </a:ln>
          </p:spPr>
        </p:sp>
        <p:sp>
          <p:nvSpPr>
            <p:cNvPr name="TextBox 18" id="18"/>
            <p:cNvSpPr txBox="true"/>
            <p:nvPr/>
          </p:nvSpPr>
          <p:spPr>
            <a:xfrm>
              <a:off x="0" y="-47625"/>
              <a:ext cx="1006794" cy="1302457"/>
            </a:xfrm>
            <a:prstGeom prst="rect">
              <a:avLst/>
            </a:prstGeom>
          </p:spPr>
          <p:txBody>
            <a:bodyPr anchor="ctr" rtlCol="false" tIns="50800" lIns="50800" bIns="50800" rIns="50800"/>
            <a:lstStyle/>
            <a:p>
              <a:pPr algn="ctr">
                <a:lnSpc>
                  <a:spcPts val="3210"/>
                </a:lnSpc>
              </a:pPr>
            </a:p>
          </p:txBody>
        </p:sp>
      </p:grpSp>
      <p:grpSp>
        <p:nvGrpSpPr>
          <p:cNvPr name="Group 19" id="19"/>
          <p:cNvGrpSpPr/>
          <p:nvPr/>
        </p:nvGrpSpPr>
        <p:grpSpPr>
          <a:xfrm rot="0">
            <a:off x="11538262" y="3360253"/>
            <a:ext cx="1066105" cy="1066105"/>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4428"/>
            </a:solidFill>
            <a:ln cap="sq">
              <a:noFill/>
              <a:prstDash val="solid"/>
              <a:miter/>
            </a:ln>
          </p:spPr>
        </p:sp>
        <p:sp>
          <p:nvSpPr>
            <p:cNvPr name="TextBox 21" id="21"/>
            <p:cNvSpPr txBox="true"/>
            <p:nvPr/>
          </p:nvSpPr>
          <p:spPr>
            <a:xfrm>
              <a:off x="76200" y="9525"/>
              <a:ext cx="660400" cy="727075"/>
            </a:xfrm>
            <a:prstGeom prst="rect">
              <a:avLst/>
            </a:prstGeom>
          </p:spPr>
          <p:txBody>
            <a:bodyPr anchor="ctr" rtlCol="false" tIns="50800" lIns="50800" bIns="50800" rIns="50800"/>
            <a:lstStyle/>
            <a:p>
              <a:pPr algn="ctr" marL="0" indent="0" lvl="1">
                <a:lnSpc>
                  <a:spcPts val="5141"/>
                </a:lnSpc>
                <a:spcBef>
                  <a:spcPct val="0"/>
                </a:spcBef>
              </a:pPr>
            </a:p>
          </p:txBody>
        </p:sp>
      </p:grpSp>
      <p:sp>
        <p:nvSpPr>
          <p:cNvPr name="Freeform 22" id="22"/>
          <p:cNvSpPr/>
          <p:nvPr/>
        </p:nvSpPr>
        <p:spPr>
          <a:xfrm flipH="false" flipV="false" rot="0">
            <a:off x="8922512" y="3369690"/>
            <a:ext cx="1287446" cy="1577050"/>
          </a:xfrm>
          <a:custGeom>
            <a:avLst/>
            <a:gdLst/>
            <a:ahLst/>
            <a:cxnLst/>
            <a:rect r="r" b="b" t="t" l="l"/>
            <a:pathLst>
              <a:path h="1577050" w="1287446">
                <a:moveTo>
                  <a:pt x="0" y="0"/>
                </a:moveTo>
                <a:lnTo>
                  <a:pt x="1287446" y="0"/>
                </a:lnTo>
                <a:lnTo>
                  <a:pt x="1287446" y="1577051"/>
                </a:lnTo>
                <a:lnTo>
                  <a:pt x="0" y="15770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3" id="23"/>
          <p:cNvSpPr/>
          <p:nvPr/>
        </p:nvSpPr>
        <p:spPr>
          <a:xfrm flipH="false" flipV="false" rot="0">
            <a:off x="13086769" y="3424821"/>
            <a:ext cx="1214958" cy="1386363"/>
          </a:xfrm>
          <a:custGeom>
            <a:avLst/>
            <a:gdLst/>
            <a:ahLst/>
            <a:cxnLst/>
            <a:rect r="r" b="b" t="t" l="l"/>
            <a:pathLst>
              <a:path h="1386363" w="1214958">
                <a:moveTo>
                  <a:pt x="0" y="0"/>
                </a:moveTo>
                <a:lnTo>
                  <a:pt x="1214958" y="0"/>
                </a:lnTo>
                <a:lnTo>
                  <a:pt x="1214958" y="1386362"/>
                </a:lnTo>
                <a:lnTo>
                  <a:pt x="0" y="13863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4" id="24"/>
          <p:cNvSpPr/>
          <p:nvPr/>
        </p:nvSpPr>
        <p:spPr>
          <a:xfrm flipH="false" flipV="false" rot="0">
            <a:off x="-2154839" y="5483634"/>
            <a:ext cx="6367078" cy="5335932"/>
          </a:xfrm>
          <a:custGeom>
            <a:avLst/>
            <a:gdLst/>
            <a:ahLst/>
            <a:cxnLst/>
            <a:rect r="r" b="b" t="t" l="l"/>
            <a:pathLst>
              <a:path h="5335932" w="6367078">
                <a:moveTo>
                  <a:pt x="0" y="0"/>
                </a:moveTo>
                <a:lnTo>
                  <a:pt x="6367078" y="0"/>
                </a:lnTo>
                <a:lnTo>
                  <a:pt x="6367078" y="5335932"/>
                </a:lnTo>
                <a:lnTo>
                  <a:pt x="0" y="533593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5" id="25"/>
          <p:cNvSpPr/>
          <p:nvPr/>
        </p:nvSpPr>
        <p:spPr>
          <a:xfrm flipH="false" flipV="false" rot="0">
            <a:off x="14076256" y="7189952"/>
            <a:ext cx="5261408" cy="3309904"/>
          </a:xfrm>
          <a:custGeom>
            <a:avLst/>
            <a:gdLst/>
            <a:ahLst/>
            <a:cxnLst/>
            <a:rect r="r" b="b" t="t" l="l"/>
            <a:pathLst>
              <a:path h="3309904" w="5261408">
                <a:moveTo>
                  <a:pt x="0" y="0"/>
                </a:moveTo>
                <a:lnTo>
                  <a:pt x="5261408" y="0"/>
                </a:lnTo>
                <a:lnTo>
                  <a:pt x="5261408" y="3309904"/>
                </a:lnTo>
                <a:lnTo>
                  <a:pt x="0" y="330990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6" id="26"/>
          <p:cNvSpPr txBox="true"/>
          <p:nvPr/>
        </p:nvSpPr>
        <p:spPr>
          <a:xfrm rot="0">
            <a:off x="6148747" y="1229064"/>
            <a:ext cx="5990506" cy="1077409"/>
          </a:xfrm>
          <a:prstGeom prst="rect">
            <a:avLst/>
          </a:prstGeom>
        </p:spPr>
        <p:txBody>
          <a:bodyPr anchor="t" rtlCol="false" tIns="0" lIns="0" bIns="0" rIns="0">
            <a:spAutoFit/>
          </a:bodyPr>
          <a:lstStyle/>
          <a:p>
            <a:pPr algn="ctr" marL="0" indent="0" lvl="0">
              <a:lnSpc>
                <a:spcPts val="8865"/>
              </a:lnSpc>
              <a:spcBef>
                <a:spcPct val="0"/>
              </a:spcBef>
            </a:pPr>
            <a:r>
              <a:rPr lang="en-US" b="true" sz="6332">
                <a:solidFill>
                  <a:srgbClr val="197237"/>
                </a:solidFill>
                <a:latin typeface="Inter Bold"/>
                <a:ea typeface="Inter Bold"/>
                <a:cs typeface="Inter Bold"/>
                <a:sym typeface="Inter Bold"/>
              </a:rPr>
              <a:t>Conclusion</a:t>
            </a:r>
          </a:p>
        </p:txBody>
      </p:sp>
      <p:sp>
        <p:nvSpPr>
          <p:cNvPr name="TextBox 27" id="27"/>
          <p:cNvSpPr txBox="true"/>
          <p:nvPr/>
        </p:nvSpPr>
        <p:spPr>
          <a:xfrm rot="0">
            <a:off x="3603391" y="5143183"/>
            <a:ext cx="3008821" cy="613857"/>
          </a:xfrm>
          <a:prstGeom prst="rect">
            <a:avLst/>
          </a:prstGeom>
        </p:spPr>
        <p:txBody>
          <a:bodyPr anchor="t" rtlCol="false" tIns="0" lIns="0" bIns="0" rIns="0">
            <a:spAutoFit/>
          </a:bodyPr>
          <a:lstStyle/>
          <a:p>
            <a:pPr algn="ctr">
              <a:lnSpc>
                <a:spcPts val="5015"/>
              </a:lnSpc>
            </a:pPr>
            <a:r>
              <a:rPr lang="en-US" b="true" sz="3582">
                <a:solidFill>
                  <a:srgbClr val="01070A"/>
                </a:solidFill>
                <a:latin typeface="Inter Bold"/>
                <a:ea typeface="Inter Bold"/>
                <a:cs typeface="Inter Bold"/>
                <a:sym typeface="Inter Bold"/>
              </a:rPr>
              <a:t>Git</a:t>
            </a:r>
          </a:p>
        </p:txBody>
      </p:sp>
      <p:sp>
        <p:nvSpPr>
          <p:cNvPr name="TextBox 28" id="28"/>
          <p:cNvSpPr txBox="true"/>
          <p:nvPr/>
        </p:nvSpPr>
        <p:spPr>
          <a:xfrm rot="0">
            <a:off x="7906139" y="5190808"/>
            <a:ext cx="3008821" cy="297626"/>
          </a:xfrm>
          <a:prstGeom prst="rect">
            <a:avLst/>
          </a:prstGeom>
        </p:spPr>
        <p:txBody>
          <a:bodyPr anchor="t" rtlCol="false" tIns="0" lIns="0" bIns="0" rIns="0">
            <a:spAutoFit/>
          </a:bodyPr>
          <a:lstStyle/>
          <a:p>
            <a:pPr algn="ctr">
              <a:lnSpc>
                <a:spcPts val="2495"/>
              </a:lnSpc>
            </a:pPr>
            <a:r>
              <a:rPr lang="en-US" sz="1782">
                <a:solidFill>
                  <a:srgbClr val="01070A"/>
                </a:solidFill>
                <a:latin typeface="DM Sans"/>
                <a:ea typeface="DM Sans"/>
                <a:cs typeface="DM Sans"/>
                <a:sym typeface="DM Sans"/>
              </a:rPr>
              <a:t>Coordination</a:t>
            </a:r>
          </a:p>
        </p:txBody>
      </p:sp>
      <p:sp>
        <p:nvSpPr>
          <p:cNvPr name="TextBox 29" id="29"/>
          <p:cNvSpPr txBox="true"/>
          <p:nvPr/>
        </p:nvSpPr>
        <p:spPr>
          <a:xfrm rot="0">
            <a:off x="12189838" y="5190808"/>
            <a:ext cx="3008821" cy="297626"/>
          </a:xfrm>
          <a:prstGeom prst="rect">
            <a:avLst/>
          </a:prstGeom>
        </p:spPr>
        <p:txBody>
          <a:bodyPr anchor="t" rtlCol="false" tIns="0" lIns="0" bIns="0" rIns="0">
            <a:spAutoFit/>
          </a:bodyPr>
          <a:lstStyle/>
          <a:p>
            <a:pPr algn="ctr">
              <a:lnSpc>
                <a:spcPts val="2495"/>
              </a:lnSpc>
            </a:pPr>
            <a:r>
              <a:rPr lang="en-US" sz="1782">
                <a:solidFill>
                  <a:srgbClr val="01070A"/>
                </a:solidFill>
                <a:latin typeface="DM Sans"/>
                <a:ea typeface="DM Sans"/>
                <a:cs typeface="DM Sans"/>
                <a:sym typeface="DM Sans"/>
              </a:rPr>
              <a:t>Technologies</a:t>
            </a:r>
          </a:p>
        </p:txBody>
      </p:sp>
      <p:sp>
        <p:nvSpPr>
          <p:cNvPr name="TextBox 30" id="30"/>
          <p:cNvSpPr txBox="true"/>
          <p:nvPr/>
        </p:nvSpPr>
        <p:spPr>
          <a:xfrm rot="0">
            <a:off x="2966040" y="3559119"/>
            <a:ext cx="999650" cy="785190"/>
          </a:xfrm>
          <a:prstGeom prst="rect">
            <a:avLst/>
          </a:prstGeom>
        </p:spPr>
        <p:txBody>
          <a:bodyPr anchor="t" rtlCol="false" tIns="0" lIns="0" bIns="0" rIns="0">
            <a:spAutoFit/>
          </a:bodyPr>
          <a:lstStyle/>
          <a:p>
            <a:pPr algn="ctr" marL="0" indent="0" lvl="0">
              <a:lnSpc>
                <a:spcPts val="6596"/>
              </a:lnSpc>
              <a:spcBef>
                <a:spcPct val="0"/>
              </a:spcBef>
            </a:pPr>
            <a:r>
              <a:rPr lang="en-US" sz="4712">
                <a:solidFill>
                  <a:srgbClr val="FFFFFF"/>
                </a:solidFill>
                <a:latin typeface="Carelia"/>
                <a:ea typeface="Carelia"/>
                <a:cs typeface="Carelia"/>
                <a:sym typeface="Carelia"/>
              </a:rPr>
              <a:t>01</a:t>
            </a:r>
          </a:p>
        </p:txBody>
      </p:sp>
      <p:sp>
        <p:nvSpPr>
          <p:cNvPr name="TextBox 31" id="31"/>
          <p:cNvSpPr txBox="true"/>
          <p:nvPr/>
        </p:nvSpPr>
        <p:spPr>
          <a:xfrm rot="0">
            <a:off x="7287791" y="3559119"/>
            <a:ext cx="999650" cy="785190"/>
          </a:xfrm>
          <a:prstGeom prst="rect">
            <a:avLst/>
          </a:prstGeom>
        </p:spPr>
        <p:txBody>
          <a:bodyPr anchor="t" rtlCol="false" tIns="0" lIns="0" bIns="0" rIns="0">
            <a:spAutoFit/>
          </a:bodyPr>
          <a:lstStyle/>
          <a:p>
            <a:pPr algn="ctr" marL="0" indent="0" lvl="0">
              <a:lnSpc>
                <a:spcPts val="6596"/>
              </a:lnSpc>
              <a:spcBef>
                <a:spcPct val="0"/>
              </a:spcBef>
            </a:pPr>
            <a:r>
              <a:rPr lang="en-US" sz="4712">
                <a:solidFill>
                  <a:srgbClr val="FFFFFF"/>
                </a:solidFill>
                <a:latin typeface="Carelia"/>
                <a:ea typeface="Carelia"/>
                <a:cs typeface="Carelia"/>
                <a:sym typeface="Carelia"/>
              </a:rPr>
              <a:t>02</a:t>
            </a:r>
          </a:p>
        </p:txBody>
      </p:sp>
      <p:sp>
        <p:nvSpPr>
          <p:cNvPr name="TextBox 32" id="32"/>
          <p:cNvSpPr txBox="true"/>
          <p:nvPr/>
        </p:nvSpPr>
        <p:spPr>
          <a:xfrm rot="0">
            <a:off x="11571490" y="3559119"/>
            <a:ext cx="999650" cy="785190"/>
          </a:xfrm>
          <a:prstGeom prst="rect">
            <a:avLst/>
          </a:prstGeom>
        </p:spPr>
        <p:txBody>
          <a:bodyPr anchor="t" rtlCol="false" tIns="0" lIns="0" bIns="0" rIns="0">
            <a:spAutoFit/>
          </a:bodyPr>
          <a:lstStyle/>
          <a:p>
            <a:pPr algn="ctr" marL="0" indent="0" lvl="0">
              <a:lnSpc>
                <a:spcPts val="6596"/>
              </a:lnSpc>
              <a:spcBef>
                <a:spcPct val="0"/>
              </a:spcBef>
            </a:pPr>
            <a:r>
              <a:rPr lang="en-US" sz="4712">
                <a:solidFill>
                  <a:srgbClr val="FFFFFF"/>
                </a:solidFill>
                <a:latin typeface="Carelia"/>
                <a:ea typeface="Carelia"/>
                <a:cs typeface="Carelia"/>
                <a:sym typeface="Carelia"/>
              </a:rPr>
              <a:t>03</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ln w="76200" cap="sq">
              <a:solidFill>
                <a:srgbClr val="154428"/>
              </a:solidFill>
              <a:prstDash val="solid"/>
              <a:miter/>
            </a:ln>
          </p:spPr>
        </p:sp>
        <p:sp>
          <p:nvSpPr>
            <p:cNvPr name="TextBox 5" id="5"/>
            <p:cNvSpPr txBox="true"/>
            <p:nvPr/>
          </p:nvSpPr>
          <p:spPr>
            <a:xfrm>
              <a:off x="0" y="-47625"/>
              <a:ext cx="4816593" cy="2756958"/>
            </a:xfrm>
            <a:prstGeom prst="rect">
              <a:avLst/>
            </a:prstGeom>
          </p:spPr>
          <p:txBody>
            <a:bodyPr anchor="ctr" rtlCol="false" tIns="50800" lIns="50800" bIns="50800" rIns="50800"/>
            <a:lstStyle/>
            <a:p>
              <a:pPr algn="ctr">
                <a:lnSpc>
                  <a:spcPts val="3210"/>
                </a:lnSpc>
              </a:pPr>
            </a:p>
          </p:txBody>
        </p:sp>
      </p:grpSp>
      <p:sp>
        <p:nvSpPr>
          <p:cNvPr name="Freeform 6" id="6"/>
          <p:cNvSpPr/>
          <p:nvPr/>
        </p:nvSpPr>
        <p:spPr>
          <a:xfrm flipH="false" flipV="false" rot="0">
            <a:off x="10775654" y="5143500"/>
            <a:ext cx="9448343" cy="5616757"/>
          </a:xfrm>
          <a:custGeom>
            <a:avLst/>
            <a:gdLst/>
            <a:ahLst/>
            <a:cxnLst/>
            <a:rect r="r" b="b" t="t" l="l"/>
            <a:pathLst>
              <a:path h="5616757" w="9448343">
                <a:moveTo>
                  <a:pt x="0" y="0"/>
                </a:moveTo>
                <a:lnTo>
                  <a:pt x="9448342" y="0"/>
                </a:lnTo>
                <a:lnTo>
                  <a:pt x="9448342" y="5616757"/>
                </a:lnTo>
                <a:lnTo>
                  <a:pt x="0" y="56167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400634" y="5428244"/>
            <a:ext cx="8436357" cy="5844796"/>
          </a:xfrm>
          <a:custGeom>
            <a:avLst/>
            <a:gdLst/>
            <a:ahLst/>
            <a:cxnLst/>
            <a:rect r="r" b="b" t="t" l="l"/>
            <a:pathLst>
              <a:path h="5844796" w="8436357">
                <a:moveTo>
                  <a:pt x="0" y="0"/>
                </a:moveTo>
                <a:lnTo>
                  <a:pt x="8436357" y="0"/>
                </a:lnTo>
                <a:lnTo>
                  <a:pt x="8436357" y="5844796"/>
                </a:lnTo>
                <a:lnTo>
                  <a:pt x="0" y="584479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2483456" y="2365012"/>
            <a:ext cx="13321088" cy="3684405"/>
          </a:xfrm>
          <a:prstGeom prst="rect">
            <a:avLst/>
          </a:prstGeom>
        </p:spPr>
        <p:txBody>
          <a:bodyPr anchor="t" rtlCol="false" tIns="0" lIns="0" bIns="0" rIns="0">
            <a:spAutoFit/>
          </a:bodyPr>
          <a:lstStyle/>
          <a:p>
            <a:pPr algn="ctr">
              <a:lnSpc>
                <a:spcPts val="14797"/>
              </a:lnSpc>
            </a:pPr>
            <a:r>
              <a:rPr lang="en-US" b="true" sz="10569">
                <a:solidFill>
                  <a:srgbClr val="197237"/>
                </a:solidFill>
                <a:latin typeface="Inter Bold"/>
                <a:ea typeface="Inter Bold"/>
                <a:cs typeface="Inter Bold"/>
                <a:sym typeface="Inter Bold"/>
              </a:rPr>
              <a:t>Merci pour votre attention</a:t>
            </a:r>
          </a:p>
        </p:txBody>
      </p:sp>
      <p:sp>
        <p:nvSpPr>
          <p:cNvPr name="Freeform 9" id="9"/>
          <p:cNvSpPr/>
          <p:nvPr/>
        </p:nvSpPr>
        <p:spPr>
          <a:xfrm flipH="false" flipV="false" rot="0">
            <a:off x="251672" y="235942"/>
            <a:ext cx="1360965" cy="1360965"/>
          </a:xfrm>
          <a:custGeom>
            <a:avLst/>
            <a:gdLst/>
            <a:ahLst/>
            <a:cxnLst/>
            <a:rect r="r" b="b" t="t" l="l"/>
            <a:pathLst>
              <a:path h="1360965" w="1360965">
                <a:moveTo>
                  <a:pt x="0" y="0"/>
                </a:moveTo>
                <a:lnTo>
                  <a:pt x="1360965" y="0"/>
                </a:lnTo>
                <a:lnTo>
                  <a:pt x="1360965" y="1360966"/>
                </a:lnTo>
                <a:lnTo>
                  <a:pt x="0" y="1360966"/>
                </a:lnTo>
                <a:lnTo>
                  <a:pt x="0" y="0"/>
                </a:lnTo>
                <a:close/>
              </a:path>
            </a:pathLst>
          </a:custGeom>
          <a:blipFill>
            <a:blip r:embed="rId7"/>
            <a:stretch>
              <a:fillRect l="0" t="0" r="0" b="0"/>
            </a:stretch>
          </a:blipFill>
        </p:spPr>
      </p:sp>
    </p:spTree>
  </p:cSld>
  <p:clrMapOvr>
    <a:masterClrMapping/>
  </p:clrMapOvr>
  <p:transition spd="fast">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DAHKL3uKpOs</dc:identifier>
  <dcterms:modified xsi:type="dcterms:W3CDTF">2011-08-01T06:04:30Z</dcterms:modified>
  <cp:revision>1</cp:revision>
  <dc:title>BookHub</dc:title>
</cp:coreProperties>
</file>