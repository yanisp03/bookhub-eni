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5E20">
              <a:alpha val="9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286000" y="3200400"/>
            <a:ext cx="2286000" cy="2286000"/>
          </a:xfrm>
          <a:prstGeom prst="ellipse">
            <a:avLst/>
          </a:prstGeom>
          <a:solidFill>
            <a:srgbClr val="2E7D32">
              <a:alpha val="4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57200"/>
            <a:ext cx="1280160" cy="1280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BookHub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22860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AF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Gestion de Bibliothèque Communautaire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28600" y="3547872"/>
            <a:ext cx="18288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5"/>
          <p:cNvSpPr/>
          <p:nvPr/>
        </p:nvSpPr>
        <p:spPr>
          <a:xfrm>
            <a:off x="228600" y="3639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D6A7"/>
                </a:solidFill>
              </a:rPr>
              <a:t>Spring Boot  ·  Angular 17+  ·  SQL Server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840480" cy="3200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86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C784"/>
                </a:solidFill>
              </a:rPr>
              <a:t>ENI Niort – Projet Bachelor CDA –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9144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914400"/>
            <a:ext cx="2697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365760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969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84048" y="139903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Qui sommes-nous · Besoin · Équipe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18688" y="9144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18688" y="914400"/>
            <a:ext cx="2697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0"/>
          <p:cNvSpPr/>
          <p:nvPr/>
        </p:nvSpPr>
        <p:spPr>
          <a:xfrm>
            <a:off x="3310128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21608" y="969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Conception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28416" y="139903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Cas d'utilisation · Wireframes · MCD · Architecture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63056" y="91440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63056" y="914400"/>
            <a:ext cx="2697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254496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III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65976" y="969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Focus technique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272784" y="139903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Sécurité JWT · Fonctionnalité Emprunt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74320" y="26517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74320" y="2651760"/>
            <a:ext cx="2697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0"/>
          <p:cNvSpPr/>
          <p:nvPr/>
        </p:nvSpPr>
        <p:spPr>
          <a:xfrm>
            <a:off x="36576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IV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77240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Démo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84048" y="31363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BookHub en live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218688" y="26517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218688" y="2651760"/>
            <a:ext cx="269748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5"/>
          <p:cNvSpPr/>
          <p:nvPr/>
        </p:nvSpPr>
        <p:spPr>
          <a:xfrm>
            <a:off x="3310128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3721608" y="27066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328416" y="313639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Git · Coordination · Technologies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E7D3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4CAF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822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Qui sommes-nous ?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74320" y="1280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Start-up spécialisée dans le numérique à impact solidaire.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Mission : mettre l'innovation au service du lien social.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4320" y="2212848"/>
            <a:ext cx="5120640" cy="274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Notre mission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74320" y="2862072"/>
            <a:ext cx="228600" cy="2286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Bibliothèque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0312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Association Quartier Solidaire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520440"/>
            <a:ext cx="228600" cy="2286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3447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03120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BookHub — plateforme web moderne &amp; inclusive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4178808"/>
            <a:ext cx="228600" cy="2286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4105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Objectif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103120" y="4105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Digitaliser la gestion manuelle des emprunts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731520"/>
            <a:ext cx="3200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E7D3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4CAF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28600" y="804672"/>
            <a:ext cx="2011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28600" y="804672"/>
            <a:ext cx="2011680" cy="475488"/>
          </a:xfrm>
          <a:prstGeom prst="rect">
            <a:avLst/>
          </a:prstGeom>
          <a:solidFill>
            <a:srgbClr val="78909C"/>
          </a:solidFill>
          <a:ln/>
        </p:spPr>
      </p:sp>
      <p:sp>
        <p:nvSpPr>
          <p:cNvPr id="9" name="Text 5"/>
          <p:cNvSpPr/>
          <p:nvPr/>
        </p:nvSpPr>
        <p:spPr>
          <a:xfrm>
            <a:off x="301752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Visiteur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" y="1417320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S'inscrire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532888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3192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Consulter le catalogue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648456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3192" y="369417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Voir le détail d'un livre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404872" y="804672"/>
            <a:ext cx="2011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404872" y="804672"/>
            <a:ext cx="2011680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4"/>
          <p:cNvSpPr/>
          <p:nvPr/>
        </p:nvSpPr>
        <p:spPr>
          <a:xfrm>
            <a:off x="2478024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Lecteur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542032" y="1417320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69464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Emprunter / Réserver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542032" y="2532888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69464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Gérer son profil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42032" y="3648456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69464" y="369417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Se connecter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81144" y="804672"/>
            <a:ext cx="2011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581144" y="804672"/>
            <a:ext cx="2011680" cy="47548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7" name="Text 23"/>
          <p:cNvSpPr/>
          <p:nvPr/>
        </p:nvSpPr>
        <p:spPr>
          <a:xfrm>
            <a:off x="4654296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Bibliothécaire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718304" y="1417320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45736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Valider les emprunts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18304" y="2532888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45736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Gérer les retours / retards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718304" y="3648456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745736" y="369417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Enregistrer un emprunt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757416" y="804672"/>
            <a:ext cx="20116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757416" y="804672"/>
            <a:ext cx="2011680" cy="47548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6" name="Text 32"/>
          <p:cNvSpPr/>
          <p:nvPr/>
        </p:nvSpPr>
        <p:spPr>
          <a:xfrm>
            <a:off x="6830568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Administrateur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894576" y="1417320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22008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Ajouter un lecteur / bibliothécaire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894576" y="2532888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22008" y="257860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Modifier un livre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894576" y="3648456"/>
            <a:ext cx="169164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922008" y="369417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Vue d'ensemble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Maquettes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Basse fidélité → Haute fidélité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28600" y="123444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5"/>
          <p:cNvSpPr/>
          <p:nvPr/>
        </p:nvSpPr>
        <p:spPr>
          <a:xfrm>
            <a:off x="36576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Hiérarchie de l'info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16733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Recherche, catalogue, boutons clés positionnés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42316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Parcours utilisateur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" y="2862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Succession logique des pages vérifiée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8600" y="3611880"/>
            <a:ext cx="54864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</a:rPr>
              <a:t>Charte graphique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5760" y="4050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Palette vert forêt · composants UI modernes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0" y="777240"/>
            <a:ext cx="2286000" cy="192024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20840" y="777240"/>
            <a:ext cx="2286000" cy="192024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0" y="2834640"/>
            <a:ext cx="228600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des Données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28600" y="822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8" name="Text 4"/>
          <p:cNvSpPr/>
          <p:nvPr/>
        </p:nvSpPr>
        <p:spPr>
          <a:xfrm>
            <a:off x="228600" y="822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Utilisateur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764792" y="822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0" name="Text 6"/>
          <p:cNvSpPr/>
          <p:nvPr/>
        </p:nvSpPr>
        <p:spPr>
          <a:xfrm>
            <a:off x="1764792" y="822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Livre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00984" y="8229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3300984" y="822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Emprunt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8600" y="129844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4" name="Text 10"/>
          <p:cNvSpPr/>
          <p:nvPr/>
        </p:nvSpPr>
        <p:spPr>
          <a:xfrm>
            <a:off x="228600" y="1298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Réservation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764792" y="129844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6" name="Text 12"/>
          <p:cNvSpPr/>
          <p:nvPr/>
        </p:nvSpPr>
        <p:spPr>
          <a:xfrm>
            <a:off x="1764792" y="1298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Catégorie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00984" y="129844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8" name="Text 14"/>
          <p:cNvSpPr/>
          <p:nvPr/>
        </p:nvSpPr>
        <p:spPr>
          <a:xfrm>
            <a:off x="3300984" y="1298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Avis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82880" y="1783080"/>
            <a:ext cx="8778240" cy="3200400"/>
          </a:xfrm>
          <a:prstGeom prst="rect">
            <a:avLst/>
          </a:prstGeom>
          <a:solidFill>
            <a:srgbClr val="F1F8E9"/>
          </a:solidFill>
          <a:ln w="25400">
            <a:solidFill>
              <a:srgbClr val="A5D6A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2880" y="27432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8B2F"/>
                </a:solidFill>
              </a:rPr>
              <a:t>📸  Insérer ici le diagramme MCD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8B2F"/>
                </a:solidFill>
              </a:rPr>
              <a:t>(copier depuis Lucidchart / draw.io)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2880" y="804672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E7D3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4CAF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Technique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Authentification JWT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56032" y="804672"/>
            <a:ext cx="274320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4"/>
          <p:cNvSpPr/>
          <p:nvPr/>
        </p:nvSpPr>
        <p:spPr>
          <a:xfrm>
            <a:off x="329184" y="82296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Inscription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93192" y="1325880"/>
            <a:ext cx="24688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912" y="134416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POST /signup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96112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93192" y="219456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8912" y="221284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Validation DTO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96112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93192" y="3063240"/>
            <a:ext cx="24688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8912" y="308152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Hash BCrypt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96112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93192" y="393192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8912" y="395020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HTTP 202 Created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0" y="804672"/>
            <a:ext cx="274320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7"/>
          <p:cNvSpPr/>
          <p:nvPr/>
        </p:nvSpPr>
        <p:spPr>
          <a:xfrm>
            <a:off x="3273552" y="82296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Filtre de sécurité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337560" y="1325880"/>
            <a:ext cx="24688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83280" y="134416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Route protégée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84048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337560" y="219456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83280" y="221284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JwtAuthenticationFilter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84048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337560" y="3063240"/>
            <a:ext cx="24688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83280" y="308152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Token présent ?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840480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337560" y="393192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83280" y="395020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Contexte Spring créé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144768" y="804672"/>
            <a:ext cx="274320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0"/>
          <p:cNvSpPr/>
          <p:nvPr/>
        </p:nvSpPr>
        <p:spPr>
          <a:xfrm>
            <a:off x="6217920" y="82296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Connexion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281928" y="1325880"/>
            <a:ext cx="24688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327648" y="134416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POST /connexion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784848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281928" y="219456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27648" y="221284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Vérif identifiants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784848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281928" y="3063240"/>
            <a:ext cx="246888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27648" y="308152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Forge JWT (rôle + id)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784848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↓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281928" y="393192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327648" y="3950208"/>
            <a:ext cx="2377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</a:rPr>
              <a:t>HTTP 200 OK + token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 — Emprunt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868680" y="868680"/>
            <a:ext cx="1097280" cy="109728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4"/>
          <p:cNvSpPr/>
          <p:nvPr/>
        </p:nvSpPr>
        <p:spPr>
          <a:xfrm>
            <a:off x="868680" y="868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86968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0040" y="20574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DEMANDE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423160" y="12984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044952" y="868680"/>
            <a:ext cx="1097280" cy="10972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9"/>
          <p:cNvSpPr/>
          <p:nvPr/>
        </p:nvSpPr>
        <p:spPr>
          <a:xfrm>
            <a:off x="3044952" y="868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063240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496312" y="20574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EN COURS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99432" y="12984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221224" y="86868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5221224" y="868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↩️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239512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72584" y="20574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RETOUR DEMANDÉ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775704" y="12984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397496" y="86868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19"/>
          <p:cNvSpPr/>
          <p:nvPr/>
        </p:nvSpPr>
        <p:spPr>
          <a:xfrm>
            <a:off x="7397496" y="868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7415784" y="886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848856" y="20574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RENDU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74320" y="263347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74320" y="2633472"/>
            <a:ext cx="54864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4"/>
          <p:cNvSpPr/>
          <p:nvPr/>
        </p:nvSpPr>
        <p:spPr>
          <a:xfrm>
            <a:off x="384048" y="2651760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Max 3 emprunts actifs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450592" y="263347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450592" y="2633472"/>
            <a:ext cx="54864" cy="56692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1" name="Text 27"/>
          <p:cNvSpPr/>
          <p:nvPr/>
        </p:nvSpPr>
        <p:spPr>
          <a:xfrm>
            <a:off x="2560320" y="2651760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14 jours dès validation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626864" y="263347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626864" y="263347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0"/>
          <p:cNvSpPr/>
          <p:nvPr/>
        </p:nvSpPr>
        <p:spPr>
          <a:xfrm>
            <a:off x="4736592" y="2651760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File d'attente FIFO → NOTIFIÉE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803136" y="263347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803136" y="2633472"/>
            <a:ext cx="54864" cy="566928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7" name="Text 33"/>
          <p:cNvSpPr/>
          <p:nvPr/>
        </p:nvSpPr>
        <p:spPr>
          <a:xfrm>
            <a:off x="6912864" y="2651760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3 retards → 5 jours suspension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274320" y="3337560"/>
            <a:ext cx="859536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11480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</a:rPr>
              <a:t>Double validation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411480" y="367588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Lecteur signale le retour  →  Bibliothécaire confirme physiquement la réception du livre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274320" y="4187952"/>
            <a:ext cx="859536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1148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📸  Screenshots à insérer ici :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4114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360C"/>
                </a:solidFill>
              </a:rPr>
              <a:t>EmpruntService.java → méthodes demanderEmprunt() · validerEmprunt() · confirmerRetour()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E7D3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4CAF5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– BookHub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1440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64592" y="658368"/>
            <a:ext cx="8814816" cy="27432"/>
          </a:xfrm>
          <a:prstGeom prst="rect">
            <a:avLst/>
          </a:prstGeom>
          <a:solidFill>
            <a:srgbClr val="2E7D32">
              <a:alpha val="5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822960"/>
            <a:ext cx="2788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822960"/>
            <a:ext cx="278892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5"/>
          <p:cNvSpPr/>
          <p:nvPr/>
        </p:nvSpPr>
        <p:spPr>
          <a:xfrm>
            <a:off x="384048" y="8503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14400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 &amp; Versionning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38912" y="16002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Branches feature, pull requests, workflow collaboratif sur GitHub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18688" y="822960"/>
            <a:ext cx="2788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18688" y="822960"/>
            <a:ext cx="278892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0"/>
          <p:cNvSpPr/>
          <p:nvPr/>
        </p:nvSpPr>
        <p:spPr>
          <a:xfrm>
            <a:off x="3328416" y="8503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858768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Coordination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16002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Trello · User Stories · Sprints planifiés · Réunions hebdo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63056" y="822960"/>
            <a:ext cx="278892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63056" y="822960"/>
            <a:ext cx="278892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5"/>
          <p:cNvSpPr/>
          <p:nvPr/>
        </p:nvSpPr>
        <p:spPr>
          <a:xfrm>
            <a:off x="6272784" y="8503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50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803136" y="868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Technologies maîtrisées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327648" y="16002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Spring Boot · Angular 17 · SQL Server · JWT · JPA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7D3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4CAF50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3246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</a:rPr>
              <a:t>Des questions 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858768"/>
            <a:ext cx="27432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</a:rPr>
              <a:t>BookHub — ENI Niort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BookHub – Gestion de Bibliothèque Communautaire</dc:title>
  <dc:subject>PptxGenJS Presentation</dc:subject>
  <dc:creator>PptxGenJS</dc:creator>
  <cp:lastModifiedBy>PptxGenJS</cp:lastModifiedBy>
  <cp:revision>1</cp:revision>
  <dcterms:created xsi:type="dcterms:W3CDTF">2026-05-20T14:39:59Z</dcterms:created>
  <dcterms:modified xsi:type="dcterms:W3CDTF">2026-05-20T14:39:59Z</dcterms:modified>
</cp:coreProperties>
</file>